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" charset="1" panose="020F0502020204030204"/>
      <p:regular r:id="rId21"/>
    </p:embeddedFont>
    <p:embeddedFont>
      <p:font typeface="Georgia Bold" charset="1" panose="02040802050405020203"/>
      <p:regular r:id="rId22"/>
    </p:embeddedFont>
    <p:embeddedFont>
      <p:font typeface="Calibri (MS) Bold" charset="1" panose="020F0702030404030204"/>
      <p:regular r:id="rId23"/>
    </p:embeddedFont>
    <p:embeddedFont>
      <p:font typeface="Georgia" charset="1" panose="02040502050405020303"/>
      <p:regular r:id="rId25"/>
    </p:embeddedFont>
    <p:embeddedFont>
      <p:font typeface="Calibri (MS) Italics" charset="1" panose="020F05020202040A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" y="2377440"/>
            <a:ext cx="15727680" cy="731520"/>
            <a:chOff x="0" y="0"/>
            <a:chExt cx="20970240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70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970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spc="1000">
                  <a:solidFill>
                    <a:srgbClr val="0D94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GFN260 - MACHINE LEARNING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80160" y="3108960"/>
            <a:ext cx="15727680" cy="1645920"/>
            <a:chOff x="0" y="0"/>
            <a:chExt cx="2097024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09702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Prédiction de prix intraday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4754880"/>
            <a:ext cx="15727680" cy="914400"/>
            <a:chOff x="0" y="0"/>
            <a:chExt cx="2097024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9702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 sur données haute fréquence AAPL - 5 minutes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4757" y="6009637"/>
            <a:ext cx="2793997" cy="50797"/>
            <a:chOff x="0" y="0"/>
            <a:chExt cx="3725329" cy="67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4757" y="7807633"/>
            <a:ext cx="15727680" cy="1021342"/>
            <a:chOff x="0" y="0"/>
            <a:chExt cx="20970240" cy="13617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0239" cy="1361790"/>
            </a:xfrm>
            <a:custGeom>
              <a:avLst/>
              <a:gdLst/>
              <a:ahLst/>
              <a:cxnLst/>
              <a:rect r="r" b="b" t="t" l="l"/>
              <a:pathLst>
                <a:path h="136179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61790"/>
                  </a:lnTo>
                  <a:lnTo>
                    <a:pt x="0" y="1361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615" r="0" b="-3074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80975"/>
              <a:ext cx="20970240" cy="1542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Yannis Khalfi &amp; Branko Markovic</a:t>
              </a:r>
            </a:p>
            <a:p>
              <a:pPr algn="l">
                <a:lnSpc>
                  <a:spcPts val="4320"/>
                </a:lnSpc>
              </a:pPr>
              <a:r>
                <a:rPr lang="en-US" sz="2400" b="true">
                  <a:solidFill>
                    <a:srgbClr val="94A3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Année universitaire 2025 - 2026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Problématique &amp; Contexte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920240"/>
            <a:ext cx="16459200" cy="2011680"/>
            <a:chOff x="0" y="0"/>
            <a:chExt cx="2194560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103120"/>
            <a:ext cx="15727680" cy="1645920"/>
            <a:chOff x="0" y="0"/>
            <a:chExt cx="2097024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2097024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115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 centrale:  </a:t>
              </a:r>
              <a:r>
                <a:rPr lang="en-US" sz="2600">
                  <a:solidFill>
                    <a:srgbClr val="115E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Est-il possible de prédire la direction du prix d’AAPL dans les 5 prochaines minutes à partir de données haute fréquence 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047" y="4565647"/>
            <a:ext cx="3670297" cy="2573017"/>
            <a:chOff x="0" y="0"/>
            <a:chExt cx="4893729" cy="3430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509" y="85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93818" cy="3430778"/>
            </a:xfrm>
            <a:custGeom>
              <a:avLst/>
              <a:gdLst/>
              <a:ahLst/>
              <a:cxnLst/>
              <a:rect r="r" b="b" t="t" l="l"/>
              <a:pathLst>
                <a:path h="343077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3422269"/>
                  </a:lnTo>
                  <a:cubicBezTo>
                    <a:pt x="4893818" y="3426968"/>
                    <a:pt x="4890008" y="3430778"/>
                    <a:pt x="488530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4885309" y="3413760"/>
                  </a:lnTo>
                  <a:lnTo>
                    <a:pt x="4885309" y="3422269"/>
                  </a:lnTo>
                  <a:lnTo>
                    <a:pt x="4876800" y="342226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5120640"/>
            <a:ext cx="3657600" cy="1269763"/>
            <a:chOff x="0" y="0"/>
            <a:chExt cx="4876800" cy="16930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76800" cy="1693018"/>
            </a:xfrm>
            <a:custGeom>
              <a:avLst/>
              <a:gdLst/>
              <a:ahLst/>
              <a:cxnLst/>
              <a:rect r="r" b="b" t="t" l="l"/>
              <a:pathLst>
                <a:path h="169301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93018"/>
                  </a:lnTo>
                  <a:lnTo>
                    <a:pt x="0" y="16930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22" r="0" b="186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876800" cy="1712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5966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1 = Hausse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 = Baisse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22847" y="4565647"/>
            <a:ext cx="3670297" cy="2573017"/>
            <a:chOff x="0" y="0"/>
            <a:chExt cx="4893729" cy="34306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93818" cy="3430778"/>
            </a:xfrm>
            <a:custGeom>
              <a:avLst/>
              <a:gdLst/>
              <a:ahLst/>
              <a:cxnLst/>
              <a:rect r="r" b="b" t="t" l="l"/>
              <a:pathLst>
                <a:path h="343077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3422269"/>
                  </a:lnTo>
                  <a:cubicBezTo>
                    <a:pt x="4893818" y="3426968"/>
                    <a:pt x="4890008" y="3430778"/>
                    <a:pt x="488530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4885309" y="3413760"/>
                  </a:lnTo>
                  <a:lnTo>
                    <a:pt x="4885309" y="3422269"/>
                  </a:lnTo>
                  <a:lnTo>
                    <a:pt x="4876800" y="342226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022847" y="4807295"/>
            <a:ext cx="3657600" cy="1664180"/>
            <a:chOff x="0" y="0"/>
            <a:chExt cx="4876800" cy="22189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2218907"/>
            </a:xfrm>
            <a:custGeom>
              <a:avLst/>
              <a:gdLst/>
              <a:ahLst/>
              <a:cxnLst/>
              <a:rect r="r" b="b" t="t" l="l"/>
              <a:pathLst>
                <a:path h="2218907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218907"/>
                  </a:lnTo>
                  <a:lnTo>
                    <a:pt x="0" y="22189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93" r="0" b="379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876800" cy="22379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Solvabilité II - 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332"/>
                  </a:solidFill>
                  <a:latin typeface="Georgia"/>
                  <a:ea typeface="Georgia"/>
                  <a:cs typeface="Georgia"/>
                  <a:sym typeface="Georgia"/>
                </a:rPr>
                <a:t>le SCR marché dépend de la volatilité des actifs détenus en portefeuille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37647" y="4565647"/>
            <a:ext cx="3670297" cy="2573017"/>
            <a:chOff x="0" y="0"/>
            <a:chExt cx="4893729" cy="34306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93818" cy="3430778"/>
            </a:xfrm>
            <a:custGeom>
              <a:avLst/>
              <a:gdLst/>
              <a:ahLst/>
              <a:cxnLst/>
              <a:rect r="r" b="b" t="t" l="l"/>
              <a:pathLst>
                <a:path h="343077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3422269"/>
                  </a:lnTo>
                  <a:cubicBezTo>
                    <a:pt x="4893818" y="3426968"/>
                    <a:pt x="4890008" y="3430778"/>
                    <a:pt x="488530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4885309" y="3413760"/>
                  </a:lnTo>
                  <a:lnTo>
                    <a:pt x="4885309" y="3422269"/>
                  </a:lnTo>
                  <a:lnTo>
                    <a:pt x="4876800" y="342226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50344" y="4502688"/>
            <a:ext cx="3657600" cy="2273395"/>
            <a:chOff x="0" y="0"/>
            <a:chExt cx="4876800" cy="30311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3031193"/>
            </a:xfrm>
            <a:custGeom>
              <a:avLst/>
              <a:gdLst/>
              <a:ahLst/>
              <a:cxnLst/>
              <a:rect r="r" b="b" t="t" l="l"/>
              <a:pathLst>
                <a:path h="3031193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031193"/>
                  </a:lnTo>
                  <a:lnTo>
                    <a:pt x="0" y="30311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71" r="0" b="545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876800" cy="3050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Modéliser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332"/>
                  </a:solidFill>
                  <a:latin typeface="Georgia"/>
                  <a:ea typeface="Georgia"/>
                  <a:cs typeface="Georgia"/>
                  <a:sym typeface="Georgia"/>
                </a:rPr>
                <a:t>Un assureur détenant des actions AAPL doit modéliser le risque intraday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252447" y="4565647"/>
            <a:ext cx="3670297" cy="2573017"/>
            <a:chOff x="0" y="0"/>
            <a:chExt cx="4893729" cy="34306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8509" y="85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93818" cy="3430778"/>
            </a:xfrm>
            <a:custGeom>
              <a:avLst/>
              <a:gdLst/>
              <a:ahLst/>
              <a:cxnLst/>
              <a:rect r="r" b="b" t="t" l="l"/>
              <a:pathLst>
                <a:path h="343077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3422269"/>
                  </a:lnTo>
                  <a:cubicBezTo>
                    <a:pt x="4893818" y="3426968"/>
                    <a:pt x="4890008" y="3430778"/>
                    <a:pt x="488530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4885309" y="3413760"/>
                  </a:lnTo>
                  <a:lnTo>
                    <a:pt x="4885309" y="3422269"/>
                  </a:lnTo>
                  <a:lnTo>
                    <a:pt x="4876800" y="342226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252447" y="4800600"/>
            <a:ext cx="3657600" cy="1664180"/>
            <a:chOff x="0" y="0"/>
            <a:chExt cx="4876800" cy="22189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76800" cy="2218907"/>
            </a:xfrm>
            <a:custGeom>
              <a:avLst/>
              <a:gdLst/>
              <a:ahLst/>
              <a:cxnLst/>
              <a:rect r="r" b="b" t="t" l="l"/>
              <a:pathLst>
                <a:path h="2218907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218907"/>
                  </a:lnTo>
                  <a:lnTo>
                    <a:pt x="0" y="22189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93" r="0" b="379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876800" cy="22379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Calibrer</a:t>
              </a:r>
            </a:p>
            <a:p>
              <a:pPr algn="ctr">
                <a:lnSpc>
                  <a:spcPts val="312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A2332"/>
                  </a:solidFill>
                  <a:latin typeface="Georgia"/>
                  <a:ea typeface="Georgia"/>
                  <a:cs typeface="Georgia"/>
                  <a:sym typeface="Georgia"/>
                </a:rPr>
                <a:t>Mieux prédire les mouvements = mieux calibrer le capital réglementaire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Données &amp; Périmètre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1566539"/>
            <a:ext cx="11954522" cy="775208"/>
            <a:chOff x="0" y="0"/>
            <a:chExt cx="15939362" cy="1033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39362" cy="1033611"/>
            </a:xfrm>
            <a:custGeom>
              <a:avLst/>
              <a:gdLst/>
              <a:ahLst/>
              <a:cxnLst/>
              <a:rect r="r" b="b" t="t" l="l"/>
              <a:pathLst>
                <a:path h="1033611" w="15939362">
                  <a:moveTo>
                    <a:pt x="516806" y="0"/>
                  </a:moveTo>
                  <a:lnTo>
                    <a:pt x="15422556" y="0"/>
                  </a:lnTo>
                  <a:cubicBezTo>
                    <a:pt x="15559622" y="0"/>
                    <a:pt x="15691073" y="54449"/>
                    <a:pt x="15787993" y="151369"/>
                  </a:cubicBezTo>
                  <a:cubicBezTo>
                    <a:pt x="15884913" y="248289"/>
                    <a:pt x="15939362" y="379740"/>
                    <a:pt x="15939362" y="516806"/>
                  </a:cubicBezTo>
                  <a:lnTo>
                    <a:pt x="15939362" y="516806"/>
                  </a:lnTo>
                  <a:cubicBezTo>
                    <a:pt x="15939362" y="653871"/>
                    <a:pt x="15884913" y="785323"/>
                    <a:pt x="15787993" y="882242"/>
                  </a:cubicBezTo>
                  <a:cubicBezTo>
                    <a:pt x="15691073" y="979162"/>
                    <a:pt x="15559622" y="1033611"/>
                    <a:pt x="15422556" y="1033611"/>
                  </a:cubicBezTo>
                  <a:lnTo>
                    <a:pt x="516806" y="1033611"/>
                  </a:lnTo>
                  <a:cubicBezTo>
                    <a:pt x="379740" y="1033611"/>
                    <a:pt x="248289" y="979162"/>
                    <a:pt x="151369" y="882242"/>
                  </a:cubicBezTo>
                  <a:cubicBezTo>
                    <a:pt x="54449" y="785323"/>
                    <a:pt x="0" y="653871"/>
                    <a:pt x="0" y="516806"/>
                  </a:cubicBezTo>
                  <a:lnTo>
                    <a:pt x="0" y="516806"/>
                  </a:lnTo>
                  <a:cubicBezTo>
                    <a:pt x="0" y="379740"/>
                    <a:pt x="54449" y="248289"/>
                    <a:pt x="151369" y="151369"/>
                  </a:cubicBezTo>
                  <a:cubicBezTo>
                    <a:pt x="248289" y="54449"/>
                    <a:pt x="379740" y="0"/>
                    <a:pt x="516806" y="0"/>
                  </a:cubicBez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03120" y="1566539"/>
            <a:ext cx="11680202" cy="775208"/>
            <a:chOff x="0" y="0"/>
            <a:chExt cx="15573602" cy="10336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73603" cy="1033611"/>
            </a:xfrm>
            <a:custGeom>
              <a:avLst/>
              <a:gdLst/>
              <a:ahLst/>
              <a:cxnLst/>
              <a:rect r="r" b="b" t="t" l="l"/>
              <a:pathLst>
                <a:path h="1033611" w="15573603">
                  <a:moveTo>
                    <a:pt x="0" y="0"/>
                  </a:moveTo>
                  <a:lnTo>
                    <a:pt x="15573603" y="0"/>
                  </a:lnTo>
                  <a:lnTo>
                    <a:pt x="15573603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" t="0" r="14312" b="-4190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573602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5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</a:t>
              </a:r>
              <a:r>
                <a:rPr lang="en-US" sz="2200" b="true">
                  <a:solidFill>
                    <a:srgbClr val="115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ajectoire </a:t>
              </a:r>
              <a:r>
                <a:rPr lang="en-US" sz="2200">
                  <a:solidFill>
                    <a:srgbClr val="115E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LVMH (EURONEXT BEDOFIH) → AAPL (Yahoo Finance) - Données insuffisantes sur LVMH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9509760"/>
            <a:ext cx="16459200" cy="640080"/>
            <a:chOff x="0" y="0"/>
            <a:chExt cx="21945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194560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3117313"/>
            <a:ext cx="3075573" cy="2026187"/>
            <a:chOff x="0" y="0"/>
            <a:chExt cx="4912384" cy="32362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618138" y="0"/>
                  </a:moveTo>
                  <a:lnTo>
                    <a:pt x="3294246" y="0"/>
                  </a:lnTo>
                  <a:cubicBezTo>
                    <a:pt x="4187919" y="0"/>
                    <a:pt x="4912384" y="724465"/>
                    <a:pt x="4912384" y="1618138"/>
                  </a:cubicBezTo>
                  <a:lnTo>
                    <a:pt x="4912384" y="1618138"/>
                  </a:lnTo>
                  <a:cubicBezTo>
                    <a:pt x="4912384" y="2511812"/>
                    <a:pt x="4187919" y="3236277"/>
                    <a:pt x="3294246" y="3236277"/>
                  </a:cubicBezTo>
                  <a:lnTo>
                    <a:pt x="1618138" y="3236277"/>
                  </a:lnTo>
                  <a:cubicBezTo>
                    <a:pt x="724465" y="3236277"/>
                    <a:pt x="0" y="2511812"/>
                    <a:pt x="0" y="1618138"/>
                  </a:cubicBezTo>
                  <a:lnTo>
                    <a:pt x="0" y="1618138"/>
                  </a:lnTo>
                  <a:cubicBezTo>
                    <a:pt x="0" y="724465"/>
                    <a:pt x="724465" y="0"/>
                    <a:pt x="1618138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57105" y="3216007"/>
            <a:ext cx="2418964" cy="1828800"/>
            <a:chOff x="0" y="0"/>
            <a:chExt cx="3225285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25286" cy="2438400"/>
            </a:xfrm>
            <a:custGeom>
              <a:avLst/>
              <a:gdLst/>
              <a:ahLst/>
              <a:cxnLst/>
              <a:rect r="r" b="b" t="t" l="l"/>
              <a:pathLst>
                <a:path h="2438400" w="3225286">
                  <a:moveTo>
                    <a:pt x="0" y="0"/>
                  </a:moveTo>
                  <a:lnTo>
                    <a:pt x="3225286" y="0"/>
                  </a:lnTo>
                  <a:lnTo>
                    <a:pt x="322528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300693" b="-532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225285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4661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Bougies 5min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 jours calendaires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06213" y="3117313"/>
            <a:ext cx="3075573" cy="2026187"/>
            <a:chOff x="0" y="0"/>
            <a:chExt cx="4912384" cy="32362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618138" y="0"/>
                  </a:moveTo>
                  <a:lnTo>
                    <a:pt x="3294246" y="0"/>
                  </a:lnTo>
                  <a:cubicBezTo>
                    <a:pt x="4187919" y="0"/>
                    <a:pt x="4912384" y="724465"/>
                    <a:pt x="4912384" y="1618138"/>
                  </a:cubicBezTo>
                  <a:lnTo>
                    <a:pt x="4912384" y="1618138"/>
                  </a:lnTo>
                  <a:cubicBezTo>
                    <a:pt x="4912384" y="2511812"/>
                    <a:pt x="4187919" y="3236277"/>
                    <a:pt x="3294246" y="3236277"/>
                  </a:cubicBezTo>
                  <a:lnTo>
                    <a:pt x="1618138" y="3236277"/>
                  </a:lnTo>
                  <a:cubicBezTo>
                    <a:pt x="724465" y="3236277"/>
                    <a:pt x="0" y="2511812"/>
                    <a:pt x="0" y="1618138"/>
                  </a:cubicBezTo>
                  <a:lnTo>
                    <a:pt x="0" y="1618138"/>
                  </a:lnTo>
                  <a:cubicBezTo>
                    <a:pt x="0" y="724465"/>
                    <a:pt x="724465" y="0"/>
                    <a:pt x="1618138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934518" y="3216007"/>
            <a:ext cx="2418964" cy="1828800"/>
            <a:chOff x="0" y="0"/>
            <a:chExt cx="3225285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25286" cy="2438400"/>
            </a:xfrm>
            <a:custGeom>
              <a:avLst/>
              <a:gdLst/>
              <a:ahLst/>
              <a:cxnLst/>
              <a:rect r="r" b="b" t="t" l="l"/>
              <a:pathLst>
                <a:path h="2438400" w="3225286">
                  <a:moveTo>
                    <a:pt x="0" y="0"/>
                  </a:moveTo>
                  <a:lnTo>
                    <a:pt x="3225286" y="0"/>
                  </a:lnTo>
                  <a:lnTo>
                    <a:pt x="322528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300693" b="-532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225285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AAPL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Yahoo Finance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yfinance gratuite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86887" y="3117313"/>
            <a:ext cx="3075573" cy="2026187"/>
            <a:chOff x="0" y="0"/>
            <a:chExt cx="4912384" cy="32362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618138" y="0"/>
                  </a:moveTo>
                  <a:lnTo>
                    <a:pt x="3294246" y="0"/>
                  </a:lnTo>
                  <a:cubicBezTo>
                    <a:pt x="4187919" y="0"/>
                    <a:pt x="4912384" y="724465"/>
                    <a:pt x="4912384" y="1618138"/>
                  </a:cubicBezTo>
                  <a:lnTo>
                    <a:pt x="4912384" y="1618138"/>
                  </a:lnTo>
                  <a:cubicBezTo>
                    <a:pt x="4912384" y="2511812"/>
                    <a:pt x="4187919" y="3236277"/>
                    <a:pt x="3294246" y="3236277"/>
                  </a:cubicBezTo>
                  <a:lnTo>
                    <a:pt x="1618138" y="3236277"/>
                  </a:lnTo>
                  <a:cubicBezTo>
                    <a:pt x="724465" y="3236277"/>
                    <a:pt x="0" y="2511812"/>
                    <a:pt x="0" y="1618138"/>
                  </a:cubicBezTo>
                  <a:lnTo>
                    <a:pt x="0" y="1618138"/>
                  </a:lnTo>
                  <a:cubicBezTo>
                    <a:pt x="0" y="724465"/>
                    <a:pt x="724465" y="0"/>
                    <a:pt x="1618138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710737" y="3216007"/>
            <a:ext cx="2575422" cy="1828800"/>
            <a:chOff x="0" y="0"/>
            <a:chExt cx="3433896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33897" cy="2438400"/>
            </a:xfrm>
            <a:custGeom>
              <a:avLst/>
              <a:gdLst/>
              <a:ahLst/>
              <a:cxnLst/>
              <a:rect r="r" b="b" t="t" l="l"/>
              <a:pathLst>
                <a:path h="2438400" w="3433897">
                  <a:moveTo>
                    <a:pt x="0" y="0"/>
                  </a:moveTo>
                  <a:lnTo>
                    <a:pt x="3433897" y="0"/>
                  </a:lnTo>
                  <a:lnTo>
                    <a:pt x="3433897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276351" b="-532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433896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Valeurs manquantes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</a:t>
              </a: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près dropna()</a:t>
              </a:r>
            </a:p>
          </p:txBody>
        </p:sp>
      </p:grp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1827170" y="5939472"/>
          <a:ext cx="14633660" cy="3209601"/>
        </p:xfrm>
        <a:graphic>
          <a:graphicData uri="http://schemas.openxmlformats.org/drawingml/2006/table">
            <a:tbl>
              <a:tblPr/>
              <a:tblGrid>
                <a:gridCol w="4543844"/>
                <a:gridCol w="5725306"/>
                <a:gridCol w="4364509"/>
              </a:tblGrid>
              <a:tr h="8771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Proportion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Bougies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</a:tr>
              <a:tr h="790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1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11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Engineering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8047" y="3265798"/>
            <a:ext cx="16351253" cy="1018166"/>
            <a:chOff x="0" y="0"/>
            <a:chExt cx="21801671" cy="135755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1801671" cy="1357555"/>
              <a:chOff x="0" y="0"/>
              <a:chExt cx="21801671" cy="13575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18084" y="2775"/>
                <a:ext cx="21765692" cy="1352034"/>
              </a:xfrm>
              <a:custGeom>
                <a:avLst/>
                <a:gdLst/>
                <a:ahLst/>
                <a:cxnLst/>
                <a:rect r="r" b="b" t="t" l="l"/>
                <a:pathLst>
                  <a:path h="1352034" w="21765692">
                    <a:moveTo>
                      <a:pt x="0" y="0"/>
                    </a:moveTo>
                    <a:lnTo>
                      <a:pt x="21765692" y="0"/>
                    </a:lnTo>
                    <a:lnTo>
                      <a:pt x="21765692" y="1352034"/>
                    </a:lnTo>
                    <a:lnTo>
                      <a:pt x="0" y="13520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801761" cy="1357644"/>
              </a:xfrm>
              <a:custGeom>
                <a:avLst/>
                <a:gdLst/>
                <a:ahLst/>
                <a:cxnLst/>
                <a:rect r="r" b="b" t="t" l="l"/>
                <a:pathLst>
                  <a:path h="1357644" w="21801761">
                    <a:moveTo>
                      <a:pt x="18084" y="0"/>
                    </a:moveTo>
                    <a:lnTo>
                      <a:pt x="21783776" y="0"/>
                    </a:lnTo>
                    <a:cubicBezTo>
                      <a:pt x="21793763" y="0"/>
                      <a:pt x="21801761" y="1243"/>
                      <a:pt x="21801761" y="2775"/>
                    </a:cubicBezTo>
                    <a:lnTo>
                      <a:pt x="21801761" y="1354809"/>
                    </a:lnTo>
                    <a:cubicBezTo>
                      <a:pt x="21801761" y="1356342"/>
                      <a:pt x="21793763" y="1357644"/>
                      <a:pt x="21783776" y="1357644"/>
                    </a:cubicBezTo>
                    <a:lnTo>
                      <a:pt x="18084" y="1357644"/>
                    </a:lnTo>
                    <a:cubicBezTo>
                      <a:pt x="8097" y="1357644"/>
                      <a:pt x="0" y="1356342"/>
                      <a:pt x="0" y="1354809"/>
                    </a:cubicBezTo>
                    <a:lnTo>
                      <a:pt x="0" y="2775"/>
                    </a:lnTo>
                    <a:cubicBezTo>
                      <a:pt x="0" y="1243"/>
                      <a:pt x="8097" y="0"/>
                      <a:pt x="18084" y="0"/>
                    </a:cubicBezTo>
                    <a:moveTo>
                      <a:pt x="18084" y="5509"/>
                    </a:moveTo>
                    <a:lnTo>
                      <a:pt x="18084" y="2775"/>
                    </a:lnTo>
                    <a:lnTo>
                      <a:pt x="36168" y="2775"/>
                    </a:lnTo>
                    <a:lnTo>
                      <a:pt x="36168" y="1354809"/>
                    </a:lnTo>
                    <a:lnTo>
                      <a:pt x="18084" y="1354809"/>
                    </a:lnTo>
                    <a:lnTo>
                      <a:pt x="18084" y="1352034"/>
                    </a:lnTo>
                    <a:lnTo>
                      <a:pt x="21783776" y="1352034"/>
                    </a:lnTo>
                    <a:lnTo>
                      <a:pt x="21783776" y="1354809"/>
                    </a:lnTo>
                    <a:lnTo>
                      <a:pt x="21765693" y="1354809"/>
                    </a:lnTo>
                    <a:lnTo>
                      <a:pt x="21765693" y="2775"/>
                    </a:lnTo>
                    <a:lnTo>
                      <a:pt x="21783776" y="2775"/>
                    </a:lnTo>
                    <a:lnTo>
                      <a:pt x="21783776" y="5551"/>
                    </a:lnTo>
                    <a:lnTo>
                      <a:pt x="18084" y="5551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496151" y="252311"/>
              <a:ext cx="6096000" cy="731520"/>
              <a:chOff x="0" y="0"/>
              <a:chExt cx="6096000" cy="7315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096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2375" r="0" b="-112375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609600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233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Return_15m (%)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810137" y="277260"/>
              <a:ext cx="4972668" cy="681622"/>
              <a:chOff x="0" y="0"/>
              <a:chExt cx="5336692" cy="73152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336691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36691">
                    <a:moveTo>
                      <a:pt x="0" y="0"/>
                    </a:moveTo>
                    <a:lnTo>
                      <a:pt x="5336691" y="0"/>
                    </a:lnTo>
                    <a:lnTo>
                      <a:pt x="533669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40" r="45170" b="-27940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5336692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59669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Momentum 15m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176144" y="351697"/>
              <a:ext cx="3610254" cy="532749"/>
              <a:chOff x="0" y="0"/>
              <a:chExt cx="3610254" cy="53274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610254" cy="532749"/>
              </a:xfrm>
              <a:custGeom>
                <a:avLst/>
                <a:gdLst/>
                <a:ahLst/>
                <a:cxnLst/>
                <a:rect r="r" b="b" t="t" l="l"/>
                <a:pathLst>
                  <a:path h="532749" w="3610254">
                    <a:moveTo>
                      <a:pt x="0" y="0"/>
                    </a:moveTo>
                    <a:lnTo>
                      <a:pt x="3610254" y="0"/>
                    </a:lnTo>
                    <a:lnTo>
                      <a:pt x="3610254" y="532749"/>
                    </a:lnTo>
                    <a:lnTo>
                      <a:pt x="0" y="53274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7160" r="-156655" b="-490632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76200"/>
                <a:ext cx="3610254" cy="60894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80"/>
                  </a:lnSpc>
                </a:pPr>
                <a:r>
                  <a:rPr lang="en-US" sz="20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ln(Closeₜ / Closeₜ₋₃) × 100</a:t>
                </a: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908047" y="1913887"/>
            <a:ext cx="16351253" cy="1018166"/>
            <a:chOff x="0" y="0"/>
            <a:chExt cx="21801671" cy="135755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1801671" cy="1357555"/>
              <a:chOff x="0" y="0"/>
              <a:chExt cx="21801671" cy="135755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8084" y="2775"/>
                <a:ext cx="21765692" cy="1352034"/>
              </a:xfrm>
              <a:custGeom>
                <a:avLst/>
                <a:gdLst/>
                <a:ahLst/>
                <a:cxnLst/>
                <a:rect r="r" b="b" t="t" l="l"/>
                <a:pathLst>
                  <a:path h="1352034" w="21765692">
                    <a:moveTo>
                      <a:pt x="0" y="0"/>
                    </a:moveTo>
                    <a:lnTo>
                      <a:pt x="21765692" y="0"/>
                    </a:lnTo>
                    <a:lnTo>
                      <a:pt x="21765692" y="1352034"/>
                    </a:lnTo>
                    <a:lnTo>
                      <a:pt x="0" y="13520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801761" cy="1357644"/>
              </a:xfrm>
              <a:custGeom>
                <a:avLst/>
                <a:gdLst/>
                <a:ahLst/>
                <a:cxnLst/>
                <a:rect r="r" b="b" t="t" l="l"/>
                <a:pathLst>
                  <a:path h="1357644" w="21801761">
                    <a:moveTo>
                      <a:pt x="18084" y="0"/>
                    </a:moveTo>
                    <a:lnTo>
                      <a:pt x="21783776" y="0"/>
                    </a:lnTo>
                    <a:cubicBezTo>
                      <a:pt x="21793763" y="0"/>
                      <a:pt x="21801761" y="1243"/>
                      <a:pt x="21801761" y="2775"/>
                    </a:cubicBezTo>
                    <a:lnTo>
                      <a:pt x="21801761" y="1354809"/>
                    </a:lnTo>
                    <a:cubicBezTo>
                      <a:pt x="21801761" y="1356342"/>
                      <a:pt x="21793763" y="1357644"/>
                      <a:pt x="21783776" y="1357644"/>
                    </a:cubicBezTo>
                    <a:lnTo>
                      <a:pt x="18084" y="1357644"/>
                    </a:lnTo>
                    <a:cubicBezTo>
                      <a:pt x="8097" y="1357644"/>
                      <a:pt x="0" y="1356342"/>
                      <a:pt x="0" y="1354809"/>
                    </a:cubicBezTo>
                    <a:lnTo>
                      <a:pt x="0" y="2775"/>
                    </a:lnTo>
                    <a:cubicBezTo>
                      <a:pt x="0" y="1243"/>
                      <a:pt x="8097" y="0"/>
                      <a:pt x="18084" y="0"/>
                    </a:cubicBezTo>
                    <a:moveTo>
                      <a:pt x="18084" y="5509"/>
                    </a:moveTo>
                    <a:lnTo>
                      <a:pt x="18084" y="2775"/>
                    </a:lnTo>
                    <a:lnTo>
                      <a:pt x="36168" y="2775"/>
                    </a:lnTo>
                    <a:lnTo>
                      <a:pt x="36168" y="1354809"/>
                    </a:lnTo>
                    <a:lnTo>
                      <a:pt x="18084" y="1354809"/>
                    </a:lnTo>
                    <a:lnTo>
                      <a:pt x="18084" y="1352034"/>
                    </a:lnTo>
                    <a:lnTo>
                      <a:pt x="21783776" y="1352034"/>
                    </a:lnTo>
                    <a:lnTo>
                      <a:pt x="21783776" y="1354809"/>
                    </a:lnTo>
                    <a:lnTo>
                      <a:pt x="21765693" y="1354809"/>
                    </a:lnTo>
                    <a:lnTo>
                      <a:pt x="21765693" y="2775"/>
                    </a:lnTo>
                    <a:lnTo>
                      <a:pt x="21783776" y="2775"/>
                    </a:lnTo>
                    <a:lnTo>
                      <a:pt x="21783776" y="5551"/>
                    </a:lnTo>
                    <a:lnTo>
                      <a:pt x="18084" y="5551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496151" y="252311"/>
              <a:ext cx="6096000" cy="731520"/>
              <a:chOff x="0" y="0"/>
              <a:chExt cx="6096000" cy="73152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096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2375" r="0" b="-112375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609600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233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Return_5m (%)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5810137" y="277260"/>
              <a:ext cx="4972668" cy="681622"/>
              <a:chOff x="0" y="0"/>
              <a:chExt cx="5336692" cy="73152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336691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36691">
                    <a:moveTo>
                      <a:pt x="0" y="0"/>
                    </a:moveTo>
                    <a:lnTo>
                      <a:pt x="5336691" y="0"/>
                    </a:lnTo>
                    <a:lnTo>
                      <a:pt x="533669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40" r="45170" b="-2794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5336692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59669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Momentum immédiat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9176144" y="351697"/>
              <a:ext cx="3610254" cy="532749"/>
              <a:chOff x="0" y="0"/>
              <a:chExt cx="3610254" cy="53274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610254" cy="532749"/>
              </a:xfrm>
              <a:custGeom>
                <a:avLst/>
                <a:gdLst/>
                <a:ahLst/>
                <a:cxnLst/>
                <a:rect r="r" b="b" t="t" l="l"/>
                <a:pathLst>
                  <a:path h="532749" w="3610254">
                    <a:moveTo>
                      <a:pt x="0" y="0"/>
                    </a:moveTo>
                    <a:lnTo>
                      <a:pt x="3610254" y="0"/>
                    </a:lnTo>
                    <a:lnTo>
                      <a:pt x="3610254" y="532749"/>
                    </a:lnTo>
                    <a:lnTo>
                      <a:pt x="0" y="53274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7160" r="-156655" b="-490632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76200"/>
                <a:ext cx="3610254" cy="60894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0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ln(Closeₜ / Closeₜ₋₁)  * 100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914400" y="1920240"/>
            <a:ext cx="128016" cy="3108960"/>
            <a:chOff x="0" y="0"/>
            <a:chExt cx="170688" cy="4145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688" cy="4145280"/>
            </a:xfrm>
            <a:custGeom>
              <a:avLst/>
              <a:gdLst/>
              <a:ahLst/>
              <a:cxnLst/>
              <a:rect r="r" b="b" t="t" l="l"/>
              <a:pathLst>
                <a:path h="41452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8047" y="7320422"/>
            <a:ext cx="16351253" cy="1018166"/>
            <a:chOff x="0" y="0"/>
            <a:chExt cx="21801671" cy="1357555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1801671" cy="1357555"/>
              <a:chOff x="0" y="0"/>
              <a:chExt cx="21801671" cy="135755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8084" y="2775"/>
                <a:ext cx="21765692" cy="1352034"/>
              </a:xfrm>
              <a:custGeom>
                <a:avLst/>
                <a:gdLst/>
                <a:ahLst/>
                <a:cxnLst/>
                <a:rect r="r" b="b" t="t" l="l"/>
                <a:pathLst>
                  <a:path h="1352034" w="21765692">
                    <a:moveTo>
                      <a:pt x="0" y="0"/>
                    </a:moveTo>
                    <a:lnTo>
                      <a:pt x="21765692" y="0"/>
                    </a:lnTo>
                    <a:lnTo>
                      <a:pt x="21765692" y="1352034"/>
                    </a:lnTo>
                    <a:lnTo>
                      <a:pt x="0" y="13520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1801761" cy="1357644"/>
              </a:xfrm>
              <a:custGeom>
                <a:avLst/>
                <a:gdLst/>
                <a:ahLst/>
                <a:cxnLst/>
                <a:rect r="r" b="b" t="t" l="l"/>
                <a:pathLst>
                  <a:path h="1357644" w="21801761">
                    <a:moveTo>
                      <a:pt x="18084" y="0"/>
                    </a:moveTo>
                    <a:lnTo>
                      <a:pt x="21783776" y="0"/>
                    </a:lnTo>
                    <a:cubicBezTo>
                      <a:pt x="21793763" y="0"/>
                      <a:pt x="21801761" y="1243"/>
                      <a:pt x="21801761" y="2775"/>
                    </a:cubicBezTo>
                    <a:lnTo>
                      <a:pt x="21801761" y="1354809"/>
                    </a:lnTo>
                    <a:cubicBezTo>
                      <a:pt x="21801761" y="1356342"/>
                      <a:pt x="21793763" y="1357644"/>
                      <a:pt x="21783776" y="1357644"/>
                    </a:cubicBezTo>
                    <a:lnTo>
                      <a:pt x="18084" y="1357644"/>
                    </a:lnTo>
                    <a:cubicBezTo>
                      <a:pt x="8097" y="1357644"/>
                      <a:pt x="0" y="1356342"/>
                      <a:pt x="0" y="1354809"/>
                    </a:cubicBezTo>
                    <a:lnTo>
                      <a:pt x="0" y="2775"/>
                    </a:lnTo>
                    <a:cubicBezTo>
                      <a:pt x="0" y="1243"/>
                      <a:pt x="8097" y="0"/>
                      <a:pt x="18084" y="0"/>
                    </a:cubicBezTo>
                    <a:moveTo>
                      <a:pt x="18084" y="5509"/>
                    </a:moveTo>
                    <a:lnTo>
                      <a:pt x="18084" y="2775"/>
                    </a:lnTo>
                    <a:lnTo>
                      <a:pt x="36168" y="2775"/>
                    </a:lnTo>
                    <a:lnTo>
                      <a:pt x="36168" y="1354809"/>
                    </a:lnTo>
                    <a:lnTo>
                      <a:pt x="18084" y="1354809"/>
                    </a:lnTo>
                    <a:lnTo>
                      <a:pt x="18084" y="1352034"/>
                    </a:lnTo>
                    <a:lnTo>
                      <a:pt x="21783776" y="1352034"/>
                    </a:lnTo>
                    <a:lnTo>
                      <a:pt x="21783776" y="1354809"/>
                    </a:lnTo>
                    <a:lnTo>
                      <a:pt x="21765693" y="1354809"/>
                    </a:lnTo>
                    <a:lnTo>
                      <a:pt x="21765693" y="2775"/>
                    </a:lnTo>
                    <a:lnTo>
                      <a:pt x="21783776" y="2775"/>
                    </a:lnTo>
                    <a:lnTo>
                      <a:pt x="21783776" y="5551"/>
                    </a:lnTo>
                    <a:lnTo>
                      <a:pt x="18084" y="5551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496151" y="252311"/>
              <a:ext cx="6096000" cy="731520"/>
              <a:chOff x="0" y="0"/>
              <a:chExt cx="6096000" cy="73152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096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2375" r="0" b="-112375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609600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233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Hour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5810137" y="277260"/>
              <a:ext cx="4972668" cy="681622"/>
              <a:chOff x="0" y="0"/>
              <a:chExt cx="5336692" cy="73152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336691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36691">
                    <a:moveTo>
                      <a:pt x="0" y="0"/>
                    </a:moveTo>
                    <a:lnTo>
                      <a:pt x="5336691" y="0"/>
                    </a:lnTo>
                    <a:lnTo>
                      <a:pt x="533669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40" r="45170" b="-27940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9050"/>
                <a:ext cx="5336692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59669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Effet d’heure  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9176144" y="351697"/>
              <a:ext cx="3610254" cy="532749"/>
              <a:chOff x="0" y="0"/>
              <a:chExt cx="3610254" cy="53274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610254" cy="532749"/>
              </a:xfrm>
              <a:custGeom>
                <a:avLst/>
                <a:gdLst/>
                <a:ahLst/>
                <a:cxnLst/>
                <a:rect r="r" b="b" t="t" l="l"/>
                <a:pathLst>
                  <a:path h="532749" w="3610254">
                    <a:moveTo>
                      <a:pt x="0" y="0"/>
                    </a:moveTo>
                    <a:lnTo>
                      <a:pt x="3610254" y="0"/>
                    </a:lnTo>
                    <a:lnTo>
                      <a:pt x="3610254" y="532749"/>
                    </a:lnTo>
                    <a:lnTo>
                      <a:pt x="0" y="53274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7160" r="-156655" b="-490632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76200"/>
                <a:ext cx="3610254" cy="60894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80"/>
                  </a:lnSpc>
                </a:pPr>
                <a:r>
                  <a:rPr lang="en-US" sz="20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heure + minute / 60</a:t>
                </a: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914400" y="5968881"/>
            <a:ext cx="16351253" cy="1018166"/>
            <a:chOff x="0" y="0"/>
            <a:chExt cx="21801671" cy="1357555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21801671" cy="1357555"/>
              <a:chOff x="0" y="0"/>
              <a:chExt cx="21801671" cy="1357555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18084" y="2775"/>
                <a:ext cx="21765692" cy="1352034"/>
              </a:xfrm>
              <a:custGeom>
                <a:avLst/>
                <a:gdLst/>
                <a:ahLst/>
                <a:cxnLst/>
                <a:rect r="r" b="b" t="t" l="l"/>
                <a:pathLst>
                  <a:path h="1352034" w="21765692">
                    <a:moveTo>
                      <a:pt x="0" y="0"/>
                    </a:moveTo>
                    <a:lnTo>
                      <a:pt x="21765692" y="0"/>
                    </a:lnTo>
                    <a:lnTo>
                      <a:pt x="21765692" y="1352034"/>
                    </a:lnTo>
                    <a:lnTo>
                      <a:pt x="0" y="13520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1801761" cy="1357644"/>
              </a:xfrm>
              <a:custGeom>
                <a:avLst/>
                <a:gdLst/>
                <a:ahLst/>
                <a:cxnLst/>
                <a:rect r="r" b="b" t="t" l="l"/>
                <a:pathLst>
                  <a:path h="1357644" w="21801761">
                    <a:moveTo>
                      <a:pt x="18084" y="0"/>
                    </a:moveTo>
                    <a:lnTo>
                      <a:pt x="21783776" y="0"/>
                    </a:lnTo>
                    <a:cubicBezTo>
                      <a:pt x="21793763" y="0"/>
                      <a:pt x="21801761" y="1243"/>
                      <a:pt x="21801761" y="2775"/>
                    </a:cubicBezTo>
                    <a:lnTo>
                      <a:pt x="21801761" y="1354809"/>
                    </a:lnTo>
                    <a:cubicBezTo>
                      <a:pt x="21801761" y="1356342"/>
                      <a:pt x="21793763" y="1357644"/>
                      <a:pt x="21783776" y="1357644"/>
                    </a:cubicBezTo>
                    <a:lnTo>
                      <a:pt x="18084" y="1357644"/>
                    </a:lnTo>
                    <a:cubicBezTo>
                      <a:pt x="8097" y="1357644"/>
                      <a:pt x="0" y="1356342"/>
                      <a:pt x="0" y="1354809"/>
                    </a:cubicBezTo>
                    <a:lnTo>
                      <a:pt x="0" y="2775"/>
                    </a:lnTo>
                    <a:cubicBezTo>
                      <a:pt x="0" y="1243"/>
                      <a:pt x="8097" y="0"/>
                      <a:pt x="18084" y="0"/>
                    </a:cubicBezTo>
                    <a:moveTo>
                      <a:pt x="18084" y="5509"/>
                    </a:moveTo>
                    <a:lnTo>
                      <a:pt x="18084" y="2775"/>
                    </a:lnTo>
                    <a:lnTo>
                      <a:pt x="36168" y="2775"/>
                    </a:lnTo>
                    <a:lnTo>
                      <a:pt x="36168" y="1354809"/>
                    </a:lnTo>
                    <a:lnTo>
                      <a:pt x="18084" y="1354809"/>
                    </a:lnTo>
                    <a:lnTo>
                      <a:pt x="18084" y="1352034"/>
                    </a:lnTo>
                    <a:lnTo>
                      <a:pt x="21783776" y="1352034"/>
                    </a:lnTo>
                    <a:lnTo>
                      <a:pt x="21783776" y="1354809"/>
                    </a:lnTo>
                    <a:lnTo>
                      <a:pt x="21765693" y="1354809"/>
                    </a:lnTo>
                    <a:lnTo>
                      <a:pt x="21765693" y="2775"/>
                    </a:lnTo>
                    <a:lnTo>
                      <a:pt x="21783776" y="2775"/>
                    </a:lnTo>
                    <a:lnTo>
                      <a:pt x="21783776" y="5551"/>
                    </a:lnTo>
                    <a:lnTo>
                      <a:pt x="18084" y="5551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496151" y="252311"/>
              <a:ext cx="6096000" cy="731520"/>
              <a:chOff x="0" y="0"/>
              <a:chExt cx="6096000" cy="73152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096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2375" r="0" b="-112375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19050"/>
                <a:ext cx="609600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233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Volume_Ratio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5810137" y="277260"/>
              <a:ext cx="4972668" cy="681622"/>
              <a:chOff x="0" y="0"/>
              <a:chExt cx="5336692" cy="73152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5336691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36691">
                    <a:moveTo>
                      <a:pt x="0" y="0"/>
                    </a:moveTo>
                    <a:lnTo>
                      <a:pt x="5336691" y="0"/>
                    </a:lnTo>
                    <a:lnTo>
                      <a:pt x="533669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40" r="45170" b="-27940"/>
                </a:stretch>
              </a:blip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5336692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59669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Activité anormale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9176144" y="351697"/>
              <a:ext cx="3610254" cy="532749"/>
              <a:chOff x="0" y="0"/>
              <a:chExt cx="3610254" cy="53274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3610254" cy="532749"/>
              </a:xfrm>
              <a:custGeom>
                <a:avLst/>
                <a:gdLst/>
                <a:ahLst/>
                <a:cxnLst/>
                <a:rect r="r" b="b" t="t" l="l"/>
                <a:pathLst>
                  <a:path h="532749" w="3610254">
                    <a:moveTo>
                      <a:pt x="0" y="0"/>
                    </a:moveTo>
                    <a:lnTo>
                      <a:pt x="3610254" y="0"/>
                    </a:lnTo>
                    <a:lnTo>
                      <a:pt x="3610254" y="532749"/>
                    </a:lnTo>
                    <a:lnTo>
                      <a:pt x="0" y="53274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7160" r="-156655" b="-490632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76200"/>
                <a:ext cx="3610254" cy="60894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79"/>
                  </a:lnSpc>
                </a:pPr>
                <a:r>
                  <a:rPr lang="en-US" sz="20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Vol_t / MA20(Vol)</a:t>
                </a: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908047" y="4617339"/>
            <a:ext cx="16351253" cy="1018166"/>
            <a:chOff x="0" y="0"/>
            <a:chExt cx="21801671" cy="1357555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21801671" cy="1357555"/>
              <a:chOff x="0" y="0"/>
              <a:chExt cx="21801671" cy="1357555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18084" y="2775"/>
                <a:ext cx="21765692" cy="1352034"/>
              </a:xfrm>
              <a:custGeom>
                <a:avLst/>
                <a:gdLst/>
                <a:ahLst/>
                <a:cxnLst/>
                <a:rect r="r" b="b" t="t" l="l"/>
                <a:pathLst>
                  <a:path h="1352034" w="21765692">
                    <a:moveTo>
                      <a:pt x="0" y="0"/>
                    </a:moveTo>
                    <a:lnTo>
                      <a:pt x="21765692" y="0"/>
                    </a:lnTo>
                    <a:lnTo>
                      <a:pt x="21765692" y="1352034"/>
                    </a:lnTo>
                    <a:lnTo>
                      <a:pt x="0" y="135203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21801761" cy="1357644"/>
              </a:xfrm>
              <a:custGeom>
                <a:avLst/>
                <a:gdLst/>
                <a:ahLst/>
                <a:cxnLst/>
                <a:rect r="r" b="b" t="t" l="l"/>
                <a:pathLst>
                  <a:path h="1357644" w="21801761">
                    <a:moveTo>
                      <a:pt x="18084" y="0"/>
                    </a:moveTo>
                    <a:lnTo>
                      <a:pt x="21783776" y="0"/>
                    </a:lnTo>
                    <a:cubicBezTo>
                      <a:pt x="21793763" y="0"/>
                      <a:pt x="21801761" y="1243"/>
                      <a:pt x="21801761" y="2775"/>
                    </a:cubicBezTo>
                    <a:lnTo>
                      <a:pt x="21801761" y="1354809"/>
                    </a:lnTo>
                    <a:cubicBezTo>
                      <a:pt x="21801761" y="1356342"/>
                      <a:pt x="21793763" y="1357644"/>
                      <a:pt x="21783776" y="1357644"/>
                    </a:cubicBezTo>
                    <a:lnTo>
                      <a:pt x="18084" y="1357644"/>
                    </a:lnTo>
                    <a:cubicBezTo>
                      <a:pt x="8097" y="1357644"/>
                      <a:pt x="0" y="1356342"/>
                      <a:pt x="0" y="1354809"/>
                    </a:cubicBezTo>
                    <a:lnTo>
                      <a:pt x="0" y="2775"/>
                    </a:lnTo>
                    <a:cubicBezTo>
                      <a:pt x="0" y="1243"/>
                      <a:pt x="8097" y="0"/>
                      <a:pt x="18084" y="0"/>
                    </a:cubicBezTo>
                    <a:moveTo>
                      <a:pt x="18084" y="5509"/>
                    </a:moveTo>
                    <a:lnTo>
                      <a:pt x="18084" y="2775"/>
                    </a:lnTo>
                    <a:lnTo>
                      <a:pt x="36168" y="2775"/>
                    </a:lnTo>
                    <a:lnTo>
                      <a:pt x="36168" y="1354809"/>
                    </a:lnTo>
                    <a:lnTo>
                      <a:pt x="18084" y="1354809"/>
                    </a:lnTo>
                    <a:lnTo>
                      <a:pt x="18084" y="1352034"/>
                    </a:lnTo>
                    <a:lnTo>
                      <a:pt x="21783776" y="1352034"/>
                    </a:lnTo>
                    <a:lnTo>
                      <a:pt x="21783776" y="1354809"/>
                    </a:lnTo>
                    <a:lnTo>
                      <a:pt x="21765693" y="1354809"/>
                    </a:lnTo>
                    <a:lnTo>
                      <a:pt x="21765693" y="2775"/>
                    </a:lnTo>
                    <a:lnTo>
                      <a:pt x="21783776" y="2775"/>
                    </a:lnTo>
                    <a:lnTo>
                      <a:pt x="21783776" y="5551"/>
                    </a:lnTo>
                    <a:lnTo>
                      <a:pt x="18084" y="5551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496151" y="252311"/>
              <a:ext cx="6096000" cy="731520"/>
              <a:chOff x="0" y="0"/>
              <a:chExt cx="6096000" cy="73152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09600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2375" r="0" b="-112375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19050"/>
                <a:ext cx="6096000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233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HL_Spread (%)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5088327" y="277260"/>
              <a:ext cx="5694478" cy="780563"/>
              <a:chOff x="0" y="0"/>
              <a:chExt cx="5336692" cy="73152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5336691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5336691">
                    <a:moveTo>
                      <a:pt x="0" y="0"/>
                    </a:moveTo>
                    <a:lnTo>
                      <a:pt x="5336691" y="0"/>
                    </a:lnTo>
                    <a:lnTo>
                      <a:pt x="5336691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7940" r="45170" b="-27940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19050"/>
                <a:ext cx="5336692" cy="7505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059669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Volatilité intra-bougie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9176144" y="351697"/>
              <a:ext cx="3610254" cy="532749"/>
              <a:chOff x="0" y="0"/>
              <a:chExt cx="3610254" cy="53274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610254" cy="532749"/>
              </a:xfrm>
              <a:custGeom>
                <a:avLst/>
                <a:gdLst/>
                <a:ahLst/>
                <a:cxnLst/>
                <a:rect r="r" b="b" t="t" l="l"/>
                <a:pathLst>
                  <a:path h="532749" w="3610254">
                    <a:moveTo>
                      <a:pt x="0" y="0"/>
                    </a:moveTo>
                    <a:lnTo>
                      <a:pt x="3610254" y="0"/>
                    </a:lnTo>
                    <a:lnTo>
                      <a:pt x="3610254" y="532749"/>
                    </a:lnTo>
                    <a:lnTo>
                      <a:pt x="0" y="53274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7160" r="-156655" b="-490632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76200"/>
                <a:ext cx="3610254" cy="60894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80"/>
                  </a:lnSpc>
                </a:pPr>
                <a:r>
                  <a:rPr lang="en-US" sz="20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(High − Low) / Close × 100</a:t>
                </a: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914400" y="5486400"/>
            <a:ext cx="128016" cy="3108960"/>
            <a:chOff x="0" y="0"/>
            <a:chExt cx="170688" cy="4145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0688" cy="4145280"/>
            </a:xfrm>
            <a:custGeom>
              <a:avLst/>
              <a:gdLst/>
              <a:ahLst/>
              <a:cxnLst/>
              <a:rect r="r" b="b" t="t" l="l"/>
              <a:pathLst>
                <a:path h="41452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14400" y="3774881"/>
            <a:ext cx="128016" cy="3108960"/>
            <a:chOff x="0" y="0"/>
            <a:chExt cx="170688" cy="41452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0688" cy="4145280"/>
            </a:xfrm>
            <a:custGeom>
              <a:avLst/>
              <a:gdLst/>
              <a:ahLst/>
              <a:cxnLst/>
              <a:rect r="r" b="b" t="t" l="l"/>
              <a:pathLst>
                <a:path h="41452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59669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Architecture des Modèles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095723"/>
            <a:ext cx="4949321" cy="6689914"/>
            <a:chOff x="0" y="0"/>
            <a:chExt cx="6599095" cy="891988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599095" cy="8919886"/>
              <a:chOff x="0" y="0"/>
              <a:chExt cx="1305715" cy="176491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05715" cy="1764913"/>
              </a:xfrm>
              <a:custGeom>
                <a:avLst/>
                <a:gdLst/>
                <a:ahLst/>
                <a:cxnLst/>
                <a:rect r="r" b="b" t="t" l="l"/>
                <a:pathLst>
                  <a:path h="1764913" w="1305715">
                    <a:moveTo>
                      <a:pt x="75083" y="0"/>
                    </a:moveTo>
                    <a:lnTo>
                      <a:pt x="1230632" y="0"/>
                    </a:lnTo>
                    <a:cubicBezTo>
                      <a:pt x="1272099" y="0"/>
                      <a:pt x="1305715" y="33616"/>
                      <a:pt x="1305715" y="75083"/>
                    </a:cubicBezTo>
                    <a:lnTo>
                      <a:pt x="1305715" y="1689830"/>
                    </a:lnTo>
                    <a:cubicBezTo>
                      <a:pt x="1305715" y="1709743"/>
                      <a:pt x="1297805" y="1728841"/>
                      <a:pt x="1283724" y="1742922"/>
                    </a:cubicBezTo>
                    <a:cubicBezTo>
                      <a:pt x="1269643" y="1757003"/>
                      <a:pt x="1250545" y="1764913"/>
                      <a:pt x="1230632" y="1764913"/>
                    </a:cubicBezTo>
                    <a:lnTo>
                      <a:pt x="75083" y="1764913"/>
                    </a:lnTo>
                    <a:cubicBezTo>
                      <a:pt x="33616" y="1764913"/>
                      <a:pt x="0" y="1731297"/>
                      <a:pt x="0" y="1689830"/>
                    </a:cubicBezTo>
                    <a:lnTo>
                      <a:pt x="0" y="75083"/>
                    </a:lnTo>
                    <a:cubicBezTo>
                      <a:pt x="0" y="33616"/>
                      <a:pt x="33616" y="0"/>
                      <a:pt x="75083" y="0"/>
                    </a:cubicBezTo>
                    <a:close/>
                  </a:path>
                </a:pathLst>
              </a:custGeom>
              <a:solidFill>
                <a:srgbClr val="1A233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305715" cy="1803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81331" y="452804"/>
              <a:ext cx="5236433" cy="815794"/>
              <a:chOff x="0" y="0"/>
              <a:chExt cx="1036095" cy="16141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36095" cy="161415"/>
              </a:xfrm>
              <a:custGeom>
                <a:avLst/>
                <a:gdLst/>
                <a:ahLst/>
                <a:cxnLst/>
                <a:rect r="r" b="b" t="t" l="l"/>
                <a:pathLst>
                  <a:path h="161415" w="1036095">
                    <a:moveTo>
                      <a:pt x="23656" y="0"/>
                    </a:moveTo>
                    <a:lnTo>
                      <a:pt x="1012439" y="0"/>
                    </a:lnTo>
                    <a:cubicBezTo>
                      <a:pt x="1025504" y="0"/>
                      <a:pt x="1036095" y="10591"/>
                      <a:pt x="1036095" y="23656"/>
                    </a:cubicBezTo>
                    <a:lnTo>
                      <a:pt x="1036095" y="137760"/>
                    </a:lnTo>
                    <a:cubicBezTo>
                      <a:pt x="1036095" y="150824"/>
                      <a:pt x="1025504" y="161415"/>
                      <a:pt x="1012439" y="161415"/>
                    </a:cubicBezTo>
                    <a:lnTo>
                      <a:pt x="23656" y="161415"/>
                    </a:lnTo>
                    <a:cubicBezTo>
                      <a:pt x="10591" y="161415"/>
                      <a:pt x="0" y="150824"/>
                      <a:pt x="0" y="137760"/>
                    </a:cubicBezTo>
                    <a:lnTo>
                      <a:pt x="0" y="23656"/>
                    </a:lnTo>
                    <a:cubicBezTo>
                      <a:pt x="0" y="10591"/>
                      <a:pt x="10591" y="0"/>
                      <a:pt x="23656" y="0"/>
                    </a:cubicBezTo>
                    <a:close/>
                  </a:path>
                </a:pathLst>
              </a:custGeom>
              <a:solidFill>
                <a:srgbClr val="4A7FF7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36095" cy="1995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19948" y="517530"/>
              <a:ext cx="1559199" cy="581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4"/>
                </a:lnSpc>
              </a:pPr>
              <a:r>
                <a:rPr lang="en-US" sz="239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19759" y="1759399"/>
              <a:ext cx="5359577" cy="697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2"/>
                </a:lnSpc>
              </a:pPr>
              <a:r>
                <a:rPr lang="en-US" sz="319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Régression Logistique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10346" y="3435496"/>
              <a:ext cx="5178402" cy="4075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4"/>
                </a:lnSpc>
              </a:pPr>
              <a:r>
                <a:rPr lang="en-US" sz="2196">
                  <a:solidFill>
                    <a:srgbClr val="4A7F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  <a:r>
                <a:rPr lang="en-US" sz="219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Combinaison linéaire + sigmoïde</a:t>
              </a:r>
            </a:p>
            <a:p>
              <a:pPr algn="l">
                <a:lnSpc>
                  <a:spcPts val="3074"/>
                </a:lnSpc>
              </a:pPr>
            </a:p>
            <a:p>
              <a:pPr algn="l">
                <a:lnSpc>
                  <a:spcPts val="3074"/>
                </a:lnSpc>
              </a:pPr>
            </a:p>
            <a:p>
              <a:pPr algn="l">
                <a:lnSpc>
                  <a:spcPts val="3074"/>
                </a:lnSpc>
              </a:pPr>
              <a:r>
                <a:rPr lang="en-US" sz="2196">
                  <a:solidFill>
                    <a:srgbClr val="4A7F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  <a:r>
                <a:rPr lang="en-US" sz="219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Interprétable (coefficients)</a:t>
              </a:r>
            </a:p>
            <a:p>
              <a:pPr algn="l">
                <a:lnSpc>
                  <a:spcPts val="3074"/>
                </a:lnSpc>
              </a:pPr>
            </a:p>
            <a:p>
              <a:pPr algn="l">
                <a:lnSpc>
                  <a:spcPts val="3074"/>
                </a:lnSpc>
              </a:pPr>
            </a:p>
            <a:p>
              <a:pPr algn="l">
                <a:lnSpc>
                  <a:spcPts val="3074"/>
                </a:lnSpc>
              </a:pPr>
              <a:r>
                <a:rPr lang="en-US" sz="2196">
                  <a:solidFill>
                    <a:srgbClr val="4A7F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  <a:r>
                <a:rPr lang="en-US" sz="219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Référence à dépasser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69340" y="2095723"/>
            <a:ext cx="4949321" cy="6689914"/>
            <a:chOff x="0" y="0"/>
            <a:chExt cx="1305715" cy="17649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5715" cy="1764913"/>
            </a:xfrm>
            <a:custGeom>
              <a:avLst/>
              <a:gdLst/>
              <a:ahLst/>
              <a:cxnLst/>
              <a:rect r="r" b="b" t="t" l="l"/>
              <a:pathLst>
                <a:path h="1764913" w="1305715">
                  <a:moveTo>
                    <a:pt x="75083" y="0"/>
                  </a:moveTo>
                  <a:lnTo>
                    <a:pt x="1230632" y="0"/>
                  </a:lnTo>
                  <a:cubicBezTo>
                    <a:pt x="1272099" y="0"/>
                    <a:pt x="1305715" y="33616"/>
                    <a:pt x="1305715" y="75083"/>
                  </a:cubicBezTo>
                  <a:lnTo>
                    <a:pt x="1305715" y="1689830"/>
                  </a:lnTo>
                  <a:cubicBezTo>
                    <a:pt x="1305715" y="1709743"/>
                    <a:pt x="1297805" y="1728841"/>
                    <a:pt x="1283724" y="1742922"/>
                  </a:cubicBezTo>
                  <a:cubicBezTo>
                    <a:pt x="1269643" y="1757003"/>
                    <a:pt x="1250545" y="1764913"/>
                    <a:pt x="1230632" y="1764913"/>
                  </a:cubicBezTo>
                  <a:lnTo>
                    <a:pt x="75083" y="1764913"/>
                  </a:lnTo>
                  <a:cubicBezTo>
                    <a:pt x="33616" y="1764913"/>
                    <a:pt x="0" y="1731297"/>
                    <a:pt x="0" y="1689830"/>
                  </a:cubicBezTo>
                  <a:lnTo>
                    <a:pt x="0" y="75083"/>
                  </a:lnTo>
                  <a:cubicBezTo>
                    <a:pt x="0" y="33616"/>
                    <a:pt x="33616" y="0"/>
                    <a:pt x="75083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05715" cy="1803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80338" y="2435326"/>
            <a:ext cx="3927325" cy="611845"/>
            <a:chOff x="0" y="0"/>
            <a:chExt cx="1036095" cy="1614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6095" cy="161415"/>
            </a:xfrm>
            <a:custGeom>
              <a:avLst/>
              <a:gdLst/>
              <a:ahLst/>
              <a:cxnLst/>
              <a:rect r="r" b="b" t="t" l="l"/>
              <a:pathLst>
                <a:path h="161415" w="1036095">
                  <a:moveTo>
                    <a:pt x="23656" y="0"/>
                  </a:moveTo>
                  <a:lnTo>
                    <a:pt x="1012439" y="0"/>
                  </a:lnTo>
                  <a:cubicBezTo>
                    <a:pt x="1025504" y="0"/>
                    <a:pt x="1036095" y="10591"/>
                    <a:pt x="1036095" y="23656"/>
                  </a:cubicBezTo>
                  <a:lnTo>
                    <a:pt x="1036095" y="137760"/>
                  </a:lnTo>
                  <a:cubicBezTo>
                    <a:pt x="1036095" y="150824"/>
                    <a:pt x="1025504" y="161415"/>
                    <a:pt x="1012439" y="161415"/>
                  </a:cubicBezTo>
                  <a:lnTo>
                    <a:pt x="23656" y="161415"/>
                  </a:lnTo>
                  <a:cubicBezTo>
                    <a:pt x="10591" y="161415"/>
                    <a:pt x="0" y="150824"/>
                    <a:pt x="0" y="137760"/>
                  </a:cubicBezTo>
                  <a:lnTo>
                    <a:pt x="0" y="23656"/>
                  </a:lnTo>
                  <a:cubicBezTo>
                    <a:pt x="0" y="10591"/>
                    <a:pt x="10591" y="0"/>
                    <a:pt x="23656" y="0"/>
                  </a:cubicBezTo>
                  <a:close/>
                </a:path>
              </a:pathLst>
            </a:custGeom>
            <a:solidFill>
              <a:srgbClr val="AE8DF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36095" cy="19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361953" y="2457704"/>
            <a:ext cx="1564095" cy="4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Ensembliste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34159" y="3400985"/>
            <a:ext cx="4019683" cy="53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sz="319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02099" y="4650914"/>
            <a:ext cx="3883801" cy="307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AE8DF5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100 arbres, profondeur max 5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AE8DF5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Bagging - robustesse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AE8DF5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Feature importance intégrée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309979" y="2095723"/>
            <a:ext cx="4949321" cy="6689914"/>
            <a:chOff x="0" y="0"/>
            <a:chExt cx="1305715" cy="17649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5715" cy="1764913"/>
            </a:xfrm>
            <a:custGeom>
              <a:avLst/>
              <a:gdLst/>
              <a:ahLst/>
              <a:cxnLst/>
              <a:rect r="r" b="b" t="t" l="l"/>
              <a:pathLst>
                <a:path h="1764913" w="1305715">
                  <a:moveTo>
                    <a:pt x="75083" y="0"/>
                  </a:moveTo>
                  <a:lnTo>
                    <a:pt x="1230632" y="0"/>
                  </a:lnTo>
                  <a:cubicBezTo>
                    <a:pt x="1272099" y="0"/>
                    <a:pt x="1305715" y="33616"/>
                    <a:pt x="1305715" y="75083"/>
                  </a:cubicBezTo>
                  <a:lnTo>
                    <a:pt x="1305715" y="1689830"/>
                  </a:lnTo>
                  <a:cubicBezTo>
                    <a:pt x="1305715" y="1709743"/>
                    <a:pt x="1297805" y="1728841"/>
                    <a:pt x="1283724" y="1742922"/>
                  </a:cubicBezTo>
                  <a:cubicBezTo>
                    <a:pt x="1269643" y="1757003"/>
                    <a:pt x="1250545" y="1764913"/>
                    <a:pt x="1230632" y="1764913"/>
                  </a:cubicBezTo>
                  <a:lnTo>
                    <a:pt x="75083" y="1764913"/>
                  </a:lnTo>
                  <a:cubicBezTo>
                    <a:pt x="33616" y="1764913"/>
                    <a:pt x="0" y="1731297"/>
                    <a:pt x="0" y="1689830"/>
                  </a:cubicBezTo>
                  <a:lnTo>
                    <a:pt x="0" y="75083"/>
                  </a:lnTo>
                  <a:cubicBezTo>
                    <a:pt x="0" y="33616"/>
                    <a:pt x="33616" y="0"/>
                    <a:pt x="75083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305715" cy="1803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20977" y="2435326"/>
            <a:ext cx="3927325" cy="611845"/>
            <a:chOff x="0" y="0"/>
            <a:chExt cx="1036095" cy="1614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36095" cy="161415"/>
            </a:xfrm>
            <a:custGeom>
              <a:avLst/>
              <a:gdLst/>
              <a:ahLst/>
              <a:cxnLst/>
              <a:rect r="r" b="b" t="t" l="l"/>
              <a:pathLst>
                <a:path h="161415" w="1036095">
                  <a:moveTo>
                    <a:pt x="23656" y="0"/>
                  </a:moveTo>
                  <a:lnTo>
                    <a:pt x="1012439" y="0"/>
                  </a:lnTo>
                  <a:cubicBezTo>
                    <a:pt x="1025504" y="0"/>
                    <a:pt x="1036095" y="10591"/>
                    <a:pt x="1036095" y="23656"/>
                  </a:cubicBezTo>
                  <a:lnTo>
                    <a:pt x="1036095" y="137760"/>
                  </a:lnTo>
                  <a:cubicBezTo>
                    <a:pt x="1036095" y="150824"/>
                    <a:pt x="1025504" y="161415"/>
                    <a:pt x="1012439" y="161415"/>
                  </a:cubicBezTo>
                  <a:lnTo>
                    <a:pt x="23656" y="161415"/>
                  </a:lnTo>
                  <a:cubicBezTo>
                    <a:pt x="10591" y="161415"/>
                    <a:pt x="0" y="150824"/>
                    <a:pt x="0" y="137760"/>
                  </a:cubicBezTo>
                  <a:lnTo>
                    <a:pt x="0" y="23656"/>
                  </a:lnTo>
                  <a:cubicBezTo>
                    <a:pt x="0" y="10591"/>
                    <a:pt x="10591" y="0"/>
                    <a:pt x="23656" y="0"/>
                  </a:cubicBez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36095" cy="199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717535" y="2457677"/>
            <a:ext cx="2134210" cy="4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39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Deep Learning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74798" y="3400985"/>
            <a:ext cx="4019683" cy="53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sz="319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LSTM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42739" y="4650914"/>
            <a:ext cx="3883801" cy="307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D9770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Séquence de 20 bougies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D9770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2 couches, 64 neurones</a:t>
            </a: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</a:p>
          <a:p>
            <a:pPr algn="l">
              <a:lnSpc>
                <a:spcPts val="3074"/>
              </a:lnSpc>
            </a:pPr>
            <a:r>
              <a:rPr lang="en-US" sz="2196">
                <a:solidFill>
                  <a:srgbClr val="D97706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219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Seed 13 - reproductible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Résultats Comparatifs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10185" y="1681477"/>
            <a:ext cx="3625799" cy="2154597"/>
            <a:chOff x="0" y="0"/>
            <a:chExt cx="4834399" cy="287279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834399" cy="2872796"/>
              <a:chOff x="0" y="0"/>
              <a:chExt cx="4834399" cy="28727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9883" y="10476"/>
                <a:ext cx="4814736" cy="2851953"/>
              </a:xfrm>
              <a:custGeom>
                <a:avLst/>
                <a:gdLst/>
                <a:ahLst/>
                <a:cxnLst/>
                <a:rect r="r" b="b" t="t" l="l"/>
                <a:pathLst>
                  <a:path h="2851953" w="4814736">
                    <a:moveTo>
                      <a:pt x="0" y="0"/>
                    </a:moveTo>
                    <a:lnTo>
                      <a:pt x="4814736" y="0"/>
                    </a:lnTo>
                    <a:lnTo>
                      <a:pt x="4814736" y="2851953"/>
                    </a:lnTo>
                    <a:lnTo>
                      <a:pt x="0" y="28519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834487" cy="2872885"/>
              </a:xfrm>
              <a:custGeom>
                <a:avLst/>
                <a:gdLst/>
                <a:ahLst/>
                <a:cxnLst/>
                <a:rect r="r" b="b" t="t" l="l"/>
                <a:pathLst>
                  <a:path h="2872885" w="4834487">
                    <a:moveTo>
                      <a:pt x="9883" y="0"/>
                    </a:moveTo>
                    <a:lnTo>
                      <a:pt x="4824619" y="0"/>
                    </a:lnTo>
                    <a:cubicBezTo>
                      <a:pt x="4830077" y="0"/>
                      <a:pt x="4834487" y="4691"/>
                      <a:pt x="4834487" y="10476"/>
                    </a:cubicBezTo>
                    <a:lnTo>
                      <a:pt x="4834487" y="2862429"/>
                    </a:lnTo>
                    <a:cubicBezTo>
                      <a:pt x="4834487" y="2868214"/>
                      <a:pt x="4830077" y="2872885"/>
                      <a:pt x="4824619" y="2872885"/>
                    </a:cubicBezTo>
                    <a:lnTo>
                      <a:pt x="9883" y="2872885"/>
                    </a:lnTo>
                    <a:cubicBezTo>
                      <a:pt x="4425" y="2872885"/>
                      <a:pt x="0" y="2868214"/>
                      <a:pt x="0" y="2862429"/>
                    </a:cubicBezTo>
                    <a:lnTo>
                      <a:pt x="0" y="10476"/>
                    </a:lnTo>
                    <a:cubicBezTo>
                      <a:pt x="0" y="4691"/>
                      <a:pt x="4425" y="0"/>
                      <a:pt x="9883" y="0"/>
                    </a:cubicBezTo>
                    <a:moveTo>
                      <a:pt x="9883" y="20795"/>
                    </a:moveTo>
                    <a:lnTo>
                      <a:pt x="9883" y="10476"/>
                    </a:lnTo>
                    <a:lnTo>
                      <a:pt x="19766" y="10476"/>
                    </a:lnTo>
                    <a:lnTo>
                      <a:pt x="19766" y="2862429"/>
                    </a:lnTo>
                    <a:lnTo>
                      <a:pt x="9883" y="2862429"/>
                    </a:lnTo>
                    <a:lnTo>
                      <a:pt x="9883" y="2851953"/>
                    </a:lnTo>
                    <a:lnTo>
                      <a:pt x="4824619" y="2851953"/>
                    </a:lnTo>
                    <a:lnTo>
                      <a:pt x="4824619" y="2862429"/>
                    </a:lnTo>
                    <a:lnTo>
                      <a:pt x="4814736" y="2862429"/>
                    </a:lnTo>
                    <a:lnTo>
                      <a:pt x="4814736" y="10476"/>
                    </a:lnTo>
                    <a:lnTo>
                      <a:pt x="4824619" y="10476"/>
                    </a:lnTo>
                    <a:lnTo>
                      <a:pt x="4824619" y="20952"/>
                    </a:lnTo>
                    <a:lnTo>
                      <a:pt x="9883" y="20952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680654" y="169591"/>
              <a:ext cx="3473090" cy="2524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Georgia"/>
                  <a:ea typeface="Georgia"/>
                  <a:cs typeface="Georgia"/>
                  <a:sym typeface="Georgia"/>
                </a:rPr>
                <a:t>Logistic Regression</a:t>
              </a:r>
            </a:p>
            <a:p>
              <a:pPr algn="ctr">
                <a:lnSpc>
                  <a:spcPts val="11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50.71%</a:t>
              </a:r>
            </a:p>
            <a:p>
              <a:pPr algn="ctr">
                <a:lnSpc>
                  <a:spcPts val="119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F1 - Score : 0.49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17920" y="1047564"/>
            <a:ext cx="10395877" cy="9077059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2710185" y="4363382"/>
            <a:ext cx="3625799" cy="2154597"/>
            <a:chOff x="0" y="0"/>
            <a:chExt cx="4834399" cy="287279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4834399" cy="2872796"/>
              <a:chOff x="0" y="0"/>
              <a:chExt cx="4834399" cy="28727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9883" y="10476"/>
                <a:ext cx="4814736" cy="2851953"/>
              </a:xfrm>
              <a:custGeom>
                <a:avLst/>
                <a:gdLst/>
                <a:ahLst/>
                <a:cxnLst/>
                <a:rect r="r" b="b" t="t" l="l"/>
                <a:pathLst>
                  <a:path h="2851953" w="4814736">
                    <a:moveTo>
                      <a:pt x="0" y="0"/>
                    </a:moveTo>
                    <a:lnTo>
                      <a:pt x="4814736" y="0"/>
                    </a:lnTo>
                    <a:lnTo>
                      <a:pt x="4814736" y="2851953"/>
                    </a:lnTo>
                    <a:lnTo>
                      <a:pt x="0" y="28519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834487" cy="2872885"/>
              </a:xfrm>
              <a:custGeom>
                <a:avLst/>
                <a:gdLst/>
                <a:ahLst/>
                <a:cxnLst/>
                <a:rect r="r" b="b" t="t" l="l"/>
                <a:pathLst>
                  <a:path h="2872885" w="4834487">
                    <a:moveTo>
                      <a:pt x="9883" y="0"/>
                    </a:moveTo>
                    <a:lnTo>
                      <a:pt x="4824619" y="0"/>
                    </a:lnTo>
                    <a:cubicBezTo>
                      <a:pt x="4830077" y="0"/>
                      <a:pt x="4834487" y="4691"/>
                      <a:pt x="4834487" y="10476"/>
                    </a:cubicBezTo>
                    <a:lnTo>
                      <a:pt x="4834487" y="2862429"/>
                    </a:lnTo>
                    <a:cubicBezTo>
                      <a:pt x="4834487" y="2868214"/>
                      <a:pt x="4830077" y="2872885"/>
                      <a:pt x="4824619" y="2872885"/>
                    </a:cubicBezTo>
                    <a:lnTo>
                      <a:pt x="9883" y="2872885"/>
                    </a:lnTo>
                    <a:cubicBezTo>
                      <a:pt x="4425" y="2872885"/>
                      <a:pt x="0" y="2868214"/>
                      <a:pt x="0" y="2862429"/>
                    </a:cubicBezTo>
                    <a:lnTo>
                      <a:pt x="0" y="10476"/>
                    </a:lnTo>
                    <a:cubicBezTo>
                      <a:pt x="0" y="4691"/>
                      <a:pt x="4425" y="0"/>
                      <a:pt x="9883" y="0"/>
                    </a:cubicBezTo>
                    <a:moveTo>
                      <a:pt x="9883" y="20795"/>
                    </a:moveTo>
                    <a:lnTo>
                      <a:pt x="9883" y="10476"/>
                    </a:lnTo>
                    <a:lnTo>
                      <a:pt x="19766" y="10476"/>
                    </a:lnTo>
                    <a:lnTo>
                      <a:pt x="19766" y="2862429"/>
                    </a:lnTo>
                    <a:lnTo>
                      <a:pt x="9883" y="2862429"/>
                    </a:lnTo>
                    <a:lnTo>
                      <a:pt x="9883" y="2851953"/>
                    </a:lnTo>
                    <a:lnTo>
                      <a:pt x="4824619" y="2851953"/>
                    </a:lnTo>
                    <a:lnTo>
                      <a:pt x="4824619" y="2862429"/>
                    </a:lnTo>
                    <a:lnTo>
                      <a:pt x="4814736" y="2862429"/>
                    </a:lnTo>
                    <a:lnTo>
                      <a:pt x="4814736" y="10476"/>
                    </a:lnTo>
                    <a:lnTo>
                      <a:pt x="4824619" y="10476"/>
                    </a:lnTo>
                    <a:lnTo>
                      <a:pt x="4824619" y="20952"/>
                    </a:lnTo>
                    <a:lnTo>
                      <a:pt x="9883" y="20952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680654" y="169591"/>
              <a:ext cx="3473090" cy="2333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Georgia"/>
                  <a:ea typeface="Georgia"/>
                  <a:cs typeface="Georgia"/>
                  <a:sym typeface="Georgia"/>
                </a:rPr>
                <a:t>Random Forest</a:t>
              </a:r>
            </a:p>
            <a:p>
              <a:pPr algn="ctr">
                <a:lnSpc>
                  <a:spcPts val="11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51.86%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F1 - Score : 0.50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10185" y="7045286"/>
            <a:ext cx="3625799" cy="2154597"/>
            <a:chOff x="0" y="0"/>
            <a:chExt cx="4834399" cy="287279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834399" cy="2872796"/>
              <a:chOff x="0" y="0"/>
              <a:chExt cx="4834399" cy="287279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9883" y="10476"/>
                <a:ext cx="4814736" cy="2851953"/>
              </a:xfrm>
              <a:custGeom>
                <a:avLst/>
                <a:gdLst/>
                <a:ahLst/>
                <a:cxnLst/>
                <a:rect r="r" b="b" t="t" l="l"/>
                <a:pathLst>
                  <a:path h="2851953" w="4814736">
                    <a:moveTo>
                      <a:pt x="0" y="0"/>
                    </a:moveTo>
                    <a:lnTo>
                      <a:pt x="4814736" y="0"/>
                    </a:lnTo>
                    <a:lnTo>
                      <a:pt x="4814736" y="2851953"/>
                    </a:lnTo>
                    <a:lnTo>
                      <a:pt x="0" y="285195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834487" cy="2872885"/>
              </a:xfrm>
              <a:custGeom>
                <a:avLst/>
                <a:gdLst/>
                <a:ahLst/>
                <a:cxnLst/>
                <a:rect r="r" b="b" t="t" l="l"/>
                <a:pathLst>
                  <a:path h="2872885" w="4834487">
                    <a:moveTo>
                      <a:pt x="9883" y="0"/>
                    </a:moveTo>
                    <a:lnTo>
                      <a:pt x="4824619" y="0"/>
                    </a:lnTo>
                    <a:cubicBezTo>
                      <a:pt x="4830077" y="0"/>
                      <a:pt x="4834487" y="4691"/>
                      <a:pt x="4834487" y="10476"/>
                    </a:cubicBezTo>
                    <a:lnTo>
                      <a:pt x="4834487" y="2862429"/>
                    </a:lnTo>
                    <a:cubicBezTo>
                      <a:pt x="4834487" y="2868214"/>
                      <a:pt x="4830077" y="2872885"/>
                      <a:pt x="4824619" y="2872885"/>
                    </a:cubicBezTo>
                    <a:lnTo>
                      <a:pt x="9883" y="2872885"/>
                    </a:lnTo>
                    <a:cubicBezTo>
                      <a:pt x="4425" y="2872885"/>
                      <a:pt x="0" y="2868214"/>
                      <a:pt x="0" y="2862429"/>
                    </a:cubicBezTo>
                    <a:lnTo>
                      <a:pt x="0" y="10476"/>
                    </a:lnTo>
                    <a:cubicBezTo>
                      <a:pt x="0" y="4691"/>
                      <a:pt x="4425" y="0"/>
                      <a:pt x="9883" y="0"/>
                    </a:cubicBezTo>
                    <a:moveTo>
                      <a:pt x="9883" y="20795"/>
                    </a:moveTo>
                    <a:lnTo>
                      <a:pt x="9883" y="10476"/>
                    </a:lnTo>
                    <a:lnTo>
                      <a:pt x="19766" y="10476"/>
                    </a:lnTo>
                    <a:lnTo>
                      <a:pt x="19766" y="2862429"/>
                    </a:lnTo>
                    <a:lnTo>
                      <a:pt x="9883" y="2862429"/>
                    </a:lnTo>
                    <a:lnTo>
                      <a:pt x="9883" y="2851953"/>
                    </a:lnTo>
                    <a:lnTo>
                      <a:pt x="4824619" y="2851953"/>
                    </a:lnTo>
                    <a:lnTo>
                      <a:pt x="4824619" y="2862429"/>
                    </a:lnTo>
                    <a:lnTo>
                      <a:pt x="4814736" y="2862429"/>
                    </a:lnTo>
                    <a:lnTo>
                      <a:pt x="4814736" y="10476"/>
                    </a:lnTo>
                    <a:lnTo>
                      <a:pt x="4824619" y="10476"/>
                    </a:lnTo>
                    <a:lnTo>
                      <a:pt x="4824619" y="20952"/>
                    </a:lnTo>
                    <a:lnTo>
                      <a:pt x="9883" y="20952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680654" y="169591"/>
              <a:ext cx="3473090" cy="2524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Georgia"/>
                  <a:ea typeface="Georgia"/>
                  <a:cs typeface="Georgia"/>
                  <a:sym typeface="Georgia"/>
                </a:rPr>
                <a:t>LSTM</a:t>
              </a:r>
            </a:p>
            <a:p>
              <a:pPr algn="ctr">
                <a:lnSpc>
                  <a:spcPts val="1199"/>
                </a:lnSpc>
              </a:pPr>
            </a:p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54.09%</a:t>
              </a:r>
            </a:p>
            <a:p>
              <a:pPr algn="ctr">
                <a:lnSpc>
                  <a:spcPts val="119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F29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F1 - Score : 0.54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Analyse des modèles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8047" y="621792"/>
            <a:ext cx="914400" cy="768096"/>
            <a:chOff x="0" y="0"/>
            <a:chExt cx="12192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2447" y="2432669"/>
            <a:ext cx="5470270" cy="4178149"/>
            <a:chOff x="0" y="0"/>
            <a:chExt cx="7293693" cy="5570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063577" y="4371263"/>
              <a:ext cx="447982" cy="338023"/>
            </a:xfrm>
            <a:custGeom>
              <a:avLst/>
              <a:gdLst/>
              <a:ahLst/>
              <a:cxnLst/>
              <a:rect r="r" b="b" t="t" l="l"/>
              <a:pathLst>
                <a:path h="338023" w="447982">
                  <a:moveTo>
                    <a:pt x="0" y="0"/>
                  </a:moveTo>
                  <a:lnTo>
                    <a:pt x="447982" y="0"/>
                  </a:lnTo>
                  <a:lnTo>
                    <a:pt x="447982" y="338023"/>
                  </a:lnTo>
                  <a:lnTo>
                    <a:pt x="0" y="33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468778" y="2302926"/>
              <a:ext cx="447982" cy="338023"/>
            </a:xfrm>
            <a:custGeom>
              <a:avLst/>
              <a:gdLst/>
              <a:ahLst/>
              <a:cxnLst/>
              <a:rect r="r" b="b" t="t" l="l"/>
              <a:pathLst>
                <a:path h="338023" w="447982">
                  <a:moveTo>
                    <a:pt x="0" y="0"/>
                  </a:moveTo>
                  <a:lnTo>
                    <a:pt x="447982" y="0"/>
                  </a:lnTo>
                  <a:lnTo>
                    <a:pt x="447982" y="338022"/>
                  </a:lnTo>
                  <a:lnTo>
                    <a:pt x="0" y="338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064352" y="2102679"/>
              <a:ext cx="467757" cy="427785"/>
            </a:xfrm>
            <a:custGeom>
              <a:avLst/>
              <a:gdLst/>
              <a:ahLst/>
              <a:cxnLst/>
              <a:rect r="r" b="b" t="t" l="l"/>
              <a:pathLst>
                <a:path h="427785" w="467757">
                  <a:moveTo>
                    <a:pt x="0" y="0"/>
                  </a:moveTo>
                  <a:lnTo>
                    <a:pt x="467756" y="0"/>
                  </a:lnTo>
                  <a:lnTo>
                    <a:pt x="467756" y="427785"/>
                  </a:lnTo>
                  <a:lnTo>
                    <a:pt x="0" y="42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446374" y="4160196"/>
              <a:ext cx="467757" cy="427785"/>
            </a:xfrm>
            <a:custGeom>
              <a:avLst/>
              <a:gdLst/>
              <a:ahLst/>
              <a:cxnLst/>
              <a:rect r="r" b="b" t="t" l="l"/>
              <a:pathLst>
                <a:path h="427785" w="467757">
                  <a:moveTo>
                    <a:pt x="0" y="0"/>
                  </a:moveTo>
                  <a:lnTo>
                    <a:pt x="467756" y="0"/>
                  </a:lnTo>
                  <a:lnTo>
                    <a:pt x="467756" y="427785"/>
                  </a:lnTo>
                  <a:lnTo>
                    <a:pt x="0" y="427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0" y="0"/>
          <a:ext cx="5470270" cy="4178149"/>
        </p:xfrm>
        <a:graphic>
          <a:graphicData uri="http://schemas.openxmlformats.org/drawingml/2006/table">
            <a:tbl>
              <a:tblPr/>
              <a:tblGrid>
                <a:gridCol w="1837996"/>
                <a:gridCol w="1894752"/>
                <a:gridCol w="1737522"/>
              </a:tblGrid>
              <a:tr h="11078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Prédit Baisse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Prédit Hausse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</a:tr>
              <a:tr h="15537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Réel Baisse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174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B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B4"/>
                    </a:solidFill>
                  </a:tcPr>
                </a:tc>
              </a:tr>
              <a:tr h="15165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Réel Hausse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B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FB6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748739" y="6817482"/>
            <a:ext cx="5617686" cy="120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m</a:t>
            </a: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odèle prédit mieux les hausses (203/357) que les baisses (174/340)</a:t>
            </a:r>
          </a:p>
          <a:p>
            <a:pPr algn="ctr">
              <a:lnSpc>
                <a:spcPts val="3079"/>
              </a:lnSpc>
            </a:pP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32119" y="606024"/>
            <a:ext cx="10284198" cy="9135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Backtest - Stratégie LSTM vs Buy &amp; Hold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519116"/>
            <a:ext cx="16202841" cy="2399123"/>
            <a:chOff x="0" y="0"/>
            <a:chExt cx="4267415" cy="631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67415" cy="631868"/>
            </a:xfrm>
            <a:custGeom>
              <a:avLst/>
              <a:gdLst/>
              <a:ahLst/>
              <a:cxnLst/>
              <a:rect r="r" b="b" t="t" l="l"/>
              <a:pathLst>
                <a:path h="631868" w="4267415">
                  <a:moveTo>
                    <a:pt x="0" y="0"/>
                  </a:moveTo>
                  <a:lnTo>
                    <a:pt x="4267415" y="0"/>
                  </a:lnTo>
                  <a:lnTo>
                    <a:pt x="4267415" y="631868"/>
                  </a:lnTo>
                  <a:lnTo>
                    <a:pt x="0" y="63186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267415" cy="689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36062" y="2666426"/>
            <a:ext cx="15971932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 le signal binaire affiche 1, il prévoit une hausse donc ACHAT</a:t>
            </a:r>
          </a:p>
          <a:p>
            <a:pPr algn="l" marL="474983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 le signal binaire affiche 0, il prévoit une baisse donc position NEUTRE.</a:t>
            </a:r>
          </a:p>
          <a:p>
            <a:pPr algn="l">
              <a:lnSpc>
                <a:spcPts val="2640"/>
              </a:lnSpc>
            </a:pPr>
            <a:r>
              <a:rPr lang="en-US" sz="2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Interprétation :</a:t>
            </a: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La stratégie est profitable (+7.34%) mais sous-performe le Buy &amp; Hold de 1.32%. L'écart s'explique par les 194 trades et les coûts associés.</a:t>
            </a:r>
          </a:p>
          <a:p>
            <a:pPr algn="l">
              <a:lnSpc>
                <a:spcPts val="2640"/>
              </a:lnSpc>
            </a:pPr>
            <a:r>
              <a:rPr lang="en-US" sz="2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Amélioration possible :</a:t>
            </a: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filtrage par seuil de probabilité softmax (achat si proba &gt; 60%, vente si proba &lt; 45%) pour réduire le nombre de trades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1944021"/>
            <a:ext cx="16202841" cy="602415"/>
            <a:chOff x="0" y="0"/>
            <a:chExt cx="4267415" cy="1586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67415" cy="158661"/>
            </a:xfrm>
            <a:custGeom>
              <a:avLst/>
              <a:gdLst/>
              <a:ahLst/>
              <a:cxnLst/>
              <a:rect r="r" b="b" t="t" l="l"/>
              <a:pathLst>
                <a:path h="158661" w="4267415">
                  <a:moveTo>
                    <a:pt x="0" y="0"/>
                  </a:moveTo>
                  <a:lnTo>
                    <a:pt x="4267415" y="0"/>
                  </a:lnTo>
                  <a:lnTo>
                    <a:pt x="4267415" y="158661"/>
                  </a:lnTo>
                  <a:lnTo>
                    <a:pt x="0" y="158661"/>
                  </a:lnTo>
                  <a:close/>
                </a:path>
              </a:pathLst>
            </a:custGeom>
            <a:solidFill>
              <a:srgbClr val="05966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267415" cy="215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Règles de la stratégie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67318" y="5827604"/>
            <a:ext cx="4070055" cy="2681351"/>
            <a:chOff x="0" y="0"/>
            <a:chExt cx="4912384" cy="32362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540755" y="0"/>
                  </a:moveTo>
                  <a:lnTo>
                    <a:pt x="3371630" y="0"/>
                  </a:lnTo>
                  <a:cubicBezTo>
                    <a:pt x="4222565" y="0"/>
                    <a:pt x="4912384" y="689819"/>
                    <a:pt x="4912384" y="1540755"/>
                  </a:cubicBezTo>
                  <a:lnTo>
                    <a:pt x="4912384" y="1695522"/>
                  </a:lnTo>
                  <a:cubicBezTo>
                    <a:pt x="4912384" y="2546458"/>
                    <a:pt x="4222565" y="3236277"/>
                    <a:pt x="3371630" y="3236277"/>
                  </a:cubicBezTo>
                  <a:lnTo>
                    <a:pt x="1540755" y="3236277"/>
                  </a:lnTo>
                  <a:cubicBezTo>
                    <a:pt x="689819" y="3236277"/>
                    <a:pt x="0" y="2546458"/>
                    <a:pt x="0" y="1695522"/>
                  </a:cubicBezTo>
                  <a:lnTo>
                    <a:pt x="0" y="1540755"/>
                  </a:lnTo>
                  <a:cubicBezTo>
                    <a:pt x="0" y="689819"/>
                    <a:pt x="689819" y="0"/>
                    <a:pt x="1540755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08973" y="5827604"/>
            <a:ext cx="4070055" cy="2681351"/>
            <a:chOff x="0" y="0"/>
            <a:chExt cx="4912384" cy="32362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540755" y="0"/>
                  </a:moveTo>
                  <a:lnTo>
                    <a:pt x="3371630" y="0"/>
                  </a:lnTo>
                  <a:cubicBezTo>
                    <a:pt x="4222565" y="0"/>
                    <a:pt x="4912384" y="689819"/>
                    <a:pt x="4912384" y="1540755"/>
                  </a:cubicBezTo>
                  <a:lnTo>
                    <a:pt x="4912384" y="1695522"/>
                  </a:lnTo>
                  <a:cubicBezTo>
                    <a:pt x="4912384" y="2546458"/>
                    <a:pt x="4222565" y="3236277"/>
                    <a:pt x="3371630" y="3236277"/>
                  </a:cubicBezTo>
                  <a:lnTo>
                    <a:pt x="1540755" y="3236277"/>
                  </a:lnTo>
                  <a:cubicBezTo>
                    <a:pt x="689819" y="3236277"/>
                    <a:pt x="0" y="2546458"/>
                    <a:pt x="0" y="1695522"/>
                  </a:cubicBezTo>
                  <a:lnTo>
                    <a:pt x="0" y="1540755"/>
                  </a:lnTo>
                  <a:cubicBezTo>
                    <a:pt x="0" y="689819"/>
                    <a:pt x="689819" y="0"/>
                    <a:pt x="1540755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543434" y="5958210"/>
            <a:ext cx="3201132" cy="2420140"/>
            <a:chOff x="0" y="0"/>
            <a:chExt cx="3225285" cy="243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25286" cy="2438400"/>
            </a:xfrm>
            <a:custGeom>
              <a:avLst/>
              <a:gdLst/>
              <a:ahLst/>
              <a:cxnLst/>
              <a:rect r="r" b="b" t="t" l="l"/>
              <a:pathLst>
                <a:path h="2438400" w="3225286">
                  <a:moveTo>
                    <a:pt x="0" y="0"/>
                  </a:moveTo>
                  <a:lnTo>
                    <a:pt x="3225286" y="0"/>
                  </a:lnTo>
                  <a:lnTo>
                    <a:pt x="322528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300693" b="-532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225285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4A7F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+8.66%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Buy &amp; Hold AAPL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Rendement cumulé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50627" y="5827604"/>
            <a:ext cx="4070055" cy="2681351"/>
            <a:chOff x="0" y="0"/>
            <a:chExt cx="4912384" cy="32362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12384" cy="3236277"/>
            </a:xfrm>
            <a:custGeom>
              <a:avLst/>
              <a:gdLst/>
              <a:ahLst/>
              <a:cxnLst/>
              <a:rect r="r" b="b" t="t" l="l"/>
              <a:pathLst>
                <a:path h="3236277" w="4912384">
                  <a:moveTo>
                    <a:pt x="1540755" y="0"/>
                  </a:moveTo>
                  <a:lnTo>
                    <a:pt x="3371630" y="0"/>
                  </a:lnTo>
                  <a:cubicBezTo>
                    <a:pt x="4222565" y="0"/>
                    <a:pt x="4912384" y="689819"/>
                    <a:pt x="4912384" y="1540755"/>
                  </a:cubicBezTo>
                  <a:lnTo>
                    <a:pt x="4912384" y="1695522"/>
                  </a:lnTo>
                  <a:cubicBezTo>
                    <a:pt x="4912384" y="2546458"/>
                    <a:pt x="4222565" y="3236277"/>
                    <a:pt x="3371630" y="3236277"/>
                  </a:cubicBezTo>
                  <a:lnTo>
                    <a:pt x="1540755" y="3236277"/>
                  </a:lnTo>
                  <a:cubicBezTo>
                    <a:pt x="689819" y="3236277"/>
                    <a:pt x="0" y="2546458"/>
                    <a:pt x="0" y="1695522"/>
                  </a:cubicBezTo>
                  <a:lnTo>
                    <a:pt x="0" y="1540755"/>
                  </a:lnTo>
                  <a:cubicBezTo>
                    <a:pt x="0" y="689819"/>
                    <a:pt x="689819" y="0"/>
                    <a:pt x="1540755" y="0"/>
                  </a:cubicBez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985089" y="5958210"/>
            <a:ext cx="3201132" cy="2420140"/>
            <a:chOff x="0" y="0"/>
            <a:chExt cx="3225285" cy="243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25286" cy="2438400"/>
            </a:xfrm>
            <a:custGeom>
              <a:avLst/>
              <a:gdLst/>
              <a:ahLst/>
              <a:cxnLst/>
              <a:rect r="r" b="b" t="t" l="l"/>
              <a:pathLst>
                <a:path h="2438400" w="3225286">
                  <a:moveTo>
                    <a:pt x="0" y="0"/>
                  </a:moveTo>
                  <a:lnTo>
                    <a:pt x="3225286" y="0"/>
                  </a:lnTo>
                  <a:lnTo>
                    <a:pt x="322528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300693" b="-5327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225285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194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Trades exécutés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Coûts : 0.01%/trade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98090" y="5975514"/>
            <a:ext cx="3201132" cy="2420140"/>
            <a:chOff x="0" y="0"/>
            <a:chExt cx="3225285" cy="243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25286" cy="2438400"/>
            </a:xfrm>
            <a:custGeom>
              <a:avLst/>
              <a:gdLst/>
              <a:ahLst/>
              <a:cxnLst/>
              <a:rect r="r" b="b" t="t" l="l"/>
              <a:pathLst>
                <a:path h="2438400" w="3225286">
                  <a:moveTo>
                    <a:pt x="0" y="0"/>
                  </a:moveTo>
                  <a:lnTo>
                    <a:pt x="3225286" y="0"/>
                  </a:lnTo>
                  <a:lnTo>
                    <a:pt x="3225286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-300693" b="-532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225285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+7.34%</a:t>
              </a:r>
            </a:p>
            <a:p>
              <a:pPr algn="ctr">
                <a:lnSpc>
                  <a:spcPts val="2639"/>
                </a:lnSpc>
              </a:pP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Stratégie LSTM</a:t>
              </a:r>
            </a:p>
            <a:p>
              <a:pPr algn="ctr">
                <a:lnSpc>
                  <a:spcPts val="600"/>
                </a:lnSpc>
              </a:pP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Rendement cumulé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IA Générative - API Claude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1560" y="7038275"/>
            <a:ext cx="16230600" cy="1554480"/>
            <a:chOff x="0" y="0"/>
            <a:chExt cx="25467466" cy="2439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67466" cy="2439138"/>
            </a:xfrm>
            <a:custGeom>
              <a:avLst/>
              <a:gdLst/>
              <a:ahLst/>
              <a:cxnLst/>
              <a:rect r="r" b="b" t="t" l="l"/>
              <a:pathLst>
                <a:path h="2439138" w="25467466">
                  <a:moveTo>
                    <a:pt x="0" y="0"/>
                  </a:moveTo>
                  <a:lnTo>
                    <a:pt x="25467466" y="0"/>
                  </a:lnTo>
                  <a:lnTo>
                    <a:pt x="25467466" y="2439138"/>
                  </a:lnTo>
                  <a:lnTo>
                    <a:pt x="0" y="2439138"/>
                  </a:lnTo>
                  <a:close/>
                </a:path>
              </a:pathLst>
            </a:custGeom>
            <a:solidFill>
              <a:srgbClr val="CCFBF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1408176"/>
            <a:ext cx="15727680" cy="1645920"/>
            <a:chOff x="0" y="0"/>
            <a:chExt cx="2097024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2097024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2400" b="true">
                  <a:solidFill>
                    <a:srgbClr val="115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Intégration de l'API Claude (Anthropic) pour</a:t>
              </a:r>
              <a:r>
                <a:rPr lang="en-US" sz="2400" b="true">
                  <a:solidFill>
                    <a:srgbClr val="115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générer automatiquement un commentaire d'analyste sur les résultats du backtest.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2674620"/>
            <a:ext cx="7084470" cy="3538090"/>
            <a:chOff x="0" y="0"/>
            <a:chExt cx="1865869" cy="9318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65869" cy="931843"/>
            </a:xfrm>
            <a:custGeom>
              <a:avLst/>
              <a:gdLst/>
              <a:ahLst/>
              <a:cxnLst/>
              <a:rect r="r" b="b" t="t" l="l"/>
              <a:pathLst>
                <a:path h="931843" w="1865869">
                  <a:moveTo>
                    <a:pt x="13114" y="0"/>
                  </a:moveTo>
                  <a:lnTo>
                    <a:pt x="1852755" y="0"/>
                  </a:lnTo>
                  <a:cubicBezTo>
                    <a:pt x="1859998" y="0"/>
                    <a:pt x="1865869" y="5871"/>
                    <a:pt x="1865869" y="13114"/>
                  </a:cubicBezTo>
                  <a:lnTo>
                    <a:pt x="1865869" y="918729"/>
                  </a:lnTo>
                  <a:cubicBezTo>
                    <a:pt x="1865869" y="925971"/>
                    <a:pt x="1859998" y="931843"/>
                    <a:pt x="1852755" y="931843"/>
                  </a:cubicBezTo>
                  <a:lnTo>
                    <a:pt x="13114" y="931843"/>
                  </a:lnTo>
                  <a:cubicBezTo>
                    <a:pt x="9636" y="931843"/>
                    <a:pt x="6300" y="930461"/>
                    <a:pt x="3841" y="928002"/>
                  </a:cubicBezTo>
                  <a:cubicBezTo>
                    <a:pt x="1382" y="925542"/>
                    <a:pt x="0" y="922207"/>
                    <a:pt x="0" y="918729"/>
                  </a:cubicBezTo>
                  <a:lnTo>
                    <a:pt x="0" y="13114"/>
                  </a:lnTo>
                  <a:cubicBezTo>
                    <a:pt x="0" y="5871"/>
                    <a:pt x="5871" y="0"/>
                    <a:pt x="13114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865869" cy="988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68564" y="2824631"/>
            <a:ext cx="6370285" cy="318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client = anthropic.Anthropic(api_key='...')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message = client.messages.create(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     model='claude-sonnet-4-5',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     max_tokens=300,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     messages=[{...}]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115E59"/>
                </a:solidFill>
                <a:latin typeface="Calibri (MS)"/>
                <a:ea typeface="Calibri (MS)"/>
                <a:cs typeface="Calibri (MS)"/>
                <a:sym typeface="Calibri (MS)"/>
              </a:rPr>
              <a:t>commentaire = message.content[0].text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92640" y="2674620"/>
            <a:ext cx="7084470" cy="3538090"/>
            <a:chOff x="0" y="0"/>
            <a:chExt cx="1865869" cy="9318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5869" cy="931843"/>
            </a:xfrm>
            <a:custGeom>
              <a:avLst/>
              <a:gdLst/>
              <a:ahLst/>
              <a:cxnLst/>
              <a:rect r="r" b="b" t="t" l="l"/>
              <a:pathLst>
                <a:path h="931843" w="1865869">
                  <a:moveTo>
                    <a:pt x="13114" y="0"/>
                  </a:moveTo>
                  <a:lnTo>
                    <a:pt x="1852755" y="0"/>
                  </a:lnTo>
                  <a:cubicBezTo>
                    <a:pt x="1859998" y="0"/>
                    <a:pt x="1865869" y="5871"/>
                    <a:pt x="1865869" y="13114"/>
                  </a:cubicBezTo>
                  <a:lnTo>
                    <a:pt x="1865869" y="918729"/>
                  </a:lnTo>
                  <a:cubicBezTo>
                    <a:pt x="1865869" y="925971"/>
                    <a:pt x="1859998" y="931843"/>
                    <a:pt x="1852755" y="931843"/>
                  </a:cubicBezTo>
                  <a:lnTo>
                    <a:pt x="13114" y="931843"/>
                  </a:lnTo>
                  <a:cubicBezTo>
                    <a:pt x="9636" y="931843"/>
                    <a:pt x="6300" y="930461"/>
                    <a:pt x="3841" y="928002"/>
                  </a:cubicBezTo>
                  <a:cubicBezTo>
                    <a:pt x="1382" y="925542"/>
                    <a:pt x="0" y="922207"/>
                    <a:pt x="0" y="918729"/>
                  </a:cubicBezTo>
                  <a:lnTo>
                    <a:pt x="0" y="13114"/>
                  </a:lnTo>
                  <a:cubicBezTo>
                    <a:pt x="0" y="5871"/>
                    <a:pt x="5871" y="0"/>
                    <a:pt x="13114" y="0"/>
                  </a:cubicBezTo>
                  <a:close/>
                </a:path>
              </a:pathLst>
            </a:custGeom>
            <a:solidFill>
              <a:srgbClr val="CCFBF1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865869" cy="988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91089" y="3630113"/>
            <a:ext cx="6443285" cy="200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La stratégie LSTM génère +7.34% contre +8.66% pour le Buy &amp; Hold. Les 194 trades et leurs coûts de friction expliquent l'écart. Un mécanisme de filtrage par seuil de probabilité améliorerait le ratio rendement/coûts.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91089" y="2824631"/>
            <a:ext cx="4594054" cy="44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115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Commentaire généré par Claude 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1560" y="7365235"/>
            <a:ext cx="162306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Usage métier</a:t>
            </a:r>
            <a:r>
              <a:rPr lang="en-US" b="true" sz="26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: Le LLM n'est pas utilisé pour la prédiction de prix mais comme outil d'interprétation et de communication des résultats — cas d'usage réaliste en salle des marchés ou en risk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Limites &amp; Perspectives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87812" y="2605487"/>
            <a:ext cx="4047451" cy="498730"/>
            <a:chOff x="0" y="0"/>
            <a:chExt cx="5936662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36662" cy="731520"/>
            </a:xfrm>
            <a:custGeom>
              <a:avLst/>
              <a:gdLst/>
              <a:ahLst/>
              <a:cxnLst/>
              <a:rect r="r" b="b" t="t" l="l"/>
              <a:pathLst>
                <a:path h="731520" w="5936662">
                  <a:moveTo>
                    <a:pt x="0" y="0"/>
                  </a:moveTo>
                  <a:lnTo>
                    <a:pt x="5936662" y="0"/>
                  </a:lnTo>
                  <a:lnTo>
                    <a:pt x="593666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-2683" b="-1123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936662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DC262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Limites identifiés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496027"/>
            <a:ext cx="7812281" cy="3294945"/>
            <a:chOff x="0" y="0"/>
            <a:chExt cx="10547590" cy="44486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7590" cy="4448602"/>
            </a:xfrm>
            <a:custGeom>
              <a:avLst/>
              <a:gdLst/>
              <a:ahLst/>
              <a:cxnLst/>
              <a:rect r="r" b="b" t="t" l="l"/>
              <a:pathLst>
                <a:path h="4448602" w="10547590">
                  <a:moveTo>
                    <a:pt x="0" y="0"/>
                  </a:moveTo>
                  <a:lnTo>
                    <a:pt x="10547590" y="0"/>
                  </a:lnTo>
                  <a:lnTo>
                    <a:pt x="10547590" y="4448602"/>
                  </a:lnTo>
                  <a:lnTo>
                    <a:pt x="0" y="444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8" r="12151" b="292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0547590" cy="4524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 jours de d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onnées — insuffisant pour un LSTM robuste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 accuracy instable (47-52%) — surapprentissage partiel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feature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 uniquement — pas de données macro ou sentiment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Coûts d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transaction simplifiés (0.01%)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Testé sur AAPL uniquement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9760" y="2591436"/>
            <a:ext cx="7863840" cy="526830"/>
            <a:chOff x="0" y="0"/>
            <a:chExt cx="11534411" cy="7727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34411" cy="772737"/>
            </a:xfrm>
            <a:custGeom>
              <a:avLst/>
              <a:gdLst/>
              <a:ahLst/>
              <a:cxnLst/>
              <a:rect r="r" b="b" t="t" l="l"/>
              <a:pathLst>
                <a:path h="772737" w="11534411">
                  <a:moveTo>
                    <a:pt x="0" y="0"/>
                  </a:moveTo>
                  <a:lnTo>
                    <a:pt x="11534411" y="0"/>
                  </a:lnTo>
                  <a:lnTo>
                    <a:pt x="11534411" y="772737"/>
                  </a:lnTo>
                  <a:lnTo>
                    <a:pt x="0" y="772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381" r="47149" b="-1010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534411" cy="791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05966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Perspectives d’amélioration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0" y="3496027"/>
            <a:ext cx="7812281" cy="3294945"/>
            <a:chOff x="0" y="0"/>
            <a:chExt cx="10547590" cy="44486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7590" cy="4448602"/>
            </a:xfrm>
            <a:custGeom>
              <a:avLst/>
              <a:gdLst/>
              <a:ahLst/>
              <a:cxnLst/>
              <a:rect r="r" b="b" t="t" l="l"/>
              <a:pathLst>
                <a:path h="4448602" w="10547590">
                  <a:moveTo>
                    <a:pt x="0" y="0"/>
                  </a:moveTo>
                  <a:lnTo>
                    <a:pt x="10547590" y="0"/>
                  </a:lnTo>
                  <a:lnTo>
                    <a:pt x="10547590" y="4448602"/>
                  </a:lnTo>
                  <a:lnTo>
                    <a:pt x="0" y="44486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8" r="12151" b="292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0547590" cy="4524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onnées LVMH BEDOFIH sur 6+ mois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uils softmax (proba &gt; 60% → achat)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eature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 NLP via FinBERT (sentiment news)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Archi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tectur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 Transformer</a:t>
              </a:r>
            </a:p>
            <a:p>
              <a:pPr algn="ctr">
                <a:lnSpc>
                  <a:spcPts val="2880"/>
                </a:lnSpc>
              </a:pPr>
            </a:p>
            <a:p>
              <a:pPr algn="ctr" marL="431801" indent="-215900" lvl="1">
                <a:lnSpc>
                  <a:spcPts val="288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</a:t>
              </a: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ension SCR marché Solvabilité II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992491" y="2591436"/>
            <a:ext cx="0" cy="461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2517516" y="2605487"/>
            <a:ext cx="540591" cy="526830"/>
          </a:xfrm>
          <a:custGeom>
            <a:avLst/>
            <a:gdLst/>
            <a:ahLst/>
            <a:cxnLst/>
            <a:rect r="r" b="b" t="t" l="l"/>
            <a:pathLst>
              <a:path h="526830" w="540591">
                <a:moveTo>
                  <a:pt x="0" y="0"/>
                </a:moveTo>
                <a:lnTo>
                  <a:pt x="540591" y="0"/>
                </a:lnTo>
                <a:lnTo>
                  <a:pt x="540591" y="526830"/>
                </a:lnTo>
                <a:lnTo>
                  <a:pt x="0" y="526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" cy="768096"/>
            <a:chOff x="0" y="0"/>
            <a:chExt cx="1219200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1920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3120" y="548640"/>
            <a:ext cx="15179040" cy="914400"/>
            <a:chOff x="0" y="0"/>
            <a:chExt cx="202387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3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451" r="0" b="-2734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2387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233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1968613"/>
            <a:ext cx="7401430" cy="2233690"/>
            <a:chOff x="0" y="0"/>
            <a:chExt cx="9868573" cy="297825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723120" cy="2753396"/>
              <a:chOff x="0" y="0"/>
              <a:chExt cx="9723120" cy="27533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8065" y="6171"/>
                <a:ext cx="9707074" cy="2741118"/>
              </a:xfrm>
              <a:custGeom>
                <a:avLst/>
                <a:gdLst/>
                <a:ahLst/>
                <a:cxnLst/>
                <a:rect r="r" b="b" t="t" l="l"/>
                <a:pathLst>
                  <a:path h="2741118" w="9707074">
                    <a:moveTo>
                      <a:pt x="0" y="0"/>
                    </a:moveTo>
                    <a:lnTo>
                      <a:pt x="9707075" y="0"/>
                    </a:lnTo>
                    <a:lnTo>
                      <a:pt x="9707075" y="2741118"/>
                    </a:lnTo>
                    <a:lnTo>
                      <a:pt x="0" y="274111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723210" cy="2753485"/>
              </a:xfrm>
              <a:custGeom>
                <a:avLst/>
                <a:gdLst/>
                <a:ahLst/>
                <a:cxnLst/>
                <a:rect r="r" b="b" t="t" l="l"/>
                <a:pathLst>
                  <a:path h="2753485" w="9723210">
                    <a:moveTo>
                      <a:pt x="8065" y="0"/>
                    </a:moveTo>
                    <a:lnTo>
                      <a:pt x="9715140" y="0"/>
                    </a:lnTo>
                    <a:cubicBezTo>
                      <a:pt x="9719593" y="0"/>
                      <a:pt x="9723210" y="2763"/>
                      <a:pt x="9723210" y="6171"/>
                    </a:cubicBezTo>
                    <a:lnTo>
                      <a:pt x="9723210" y="2747289"/>
                    </a:lnTo>
                    <a:cubicBezTo>
                      <a:pt x="9723210" y="2750697"/>
                      <a:pt x="9719593" y="2753485"/>
                      <a:pt x="9715140" y="2753485"/>
                    </a:cubicBezTo>
                    <a:lnTo>
                      <a:pt x="8065" y="2753485"/>
                    </a:lnTo>
                    <a:cubicBezTo>
                      <a:pt x="3611" y="2753485"/>
                      <a:pt x="0" y="2750697"/>
                      <a:pt x="0" y="2747289"/>
                    </a:cubicBezTo>
                    <a:lnTo>
                      <a:pt x="0" y="6171"/>
                    </a:lnTo>
                    <a:cubicBezTo>
                      <a:pt x="0" y="2763"/>
                      <a:pt x="3611" y="0"/>
                      <a:pt x="8065" y="0"/>
                    </a:cubicBezTo>
                    <a:moveTo>
                      <a:pt x="8065" y="12250"/>
                    </a:moveTo>
                    <a:lnTo>
                      <a:pt x="8065" y="6171"/>
                    </a:lnTo>
                    <a:lnTo>
                      <a:pt x="16130" y="6171"/>
                    </a:lnTo>
                    <a:lnTo>
                      <a:pt x="16130" y="2747289"/>
                    </a:lnTo>
                    <a:lnTo>
                      <a:pt x="8065" y="2747289"/>
                    </a:lnTo>
                    <a:lnTo>
                      <a:pt x="8065" y="2741118"/>
                    </a:lnTo>
                    <a:lnTo>
                      <a:pt x="9715140" y="2741118"/>
                    </a:lnTo>
                    <a:lnTo>
                      <a:pt x="9715140" y="2747289"/>
                    </a:lnTo>
                    <a:lnTo>
                      <a:pt x="9707074" y="2747289"/>
                    </a:lnTo>
                    <a:lnTo>
                      <a:pt x="9707074" y="6171"/>
                    </a:lnTo>
                    <a:lnTo>
                      <a:pt x="9715140" y="6171"/>
                    </a:lnTo>
                    <a:lnTo>
                      <a:pt x="9715140" y="12342"/>
                    </a:lnTo>
                    <a:lnTo>
                      <a:pt x="8065" y="12342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609600" y="200111"/>
              <a:ext cx="5120491" cy="912334"/>
              <a:chOff x="0" y="0"/>
              <a:chExt cx="3010823" cy="5364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010823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3010823">
                    <a:moveTo>
                      <a:pt x="0" y="0"/>
                    </a:moveTo>
                    <a:lnTo>
                      <a:pt x="3010823" y="0"/>
                    </a:lnTo>
                    <a:lnTo>
                      <a:pt x="3010823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3010823" cy="5364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1 - Pipeline complet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58813" y="1376698"/>
              <a:ext cx="9509760" cy="1601555"/>
              <a:chOff x="0" y="0"/>
              <a:chExt cx="9509760" cy="160155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09760" cy="1601555"/>
              </a:xfrm>
              <a:custGeom>
                <a:avLst/>
                <a:gdLst/>
                <a:ahLst/>
                <a:cxnLst/>
                <a:rect r="r" b="b" t="t" l="l"/>
                <a:pathLst>
                  <a:path h="1601555" w="950976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1601555"/>
                    </a:lnTo>
                    <a:lnTo>
                      <a:pt x="0" y="160155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1442" r="0" b="-49955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85725"/>
                <a:ext cx="9509760" cy="1687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035"/>
                  </a:lnSpc>
                </a:pPr>
                <a:r>
                  <a:rPr lang="en-US" sz="2199">
                    <a:solidFill>
                      <a:srgbClr val="1F2937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Da</a:t>
                </a:r>
                <a:r>
                  <a:rPr lang="en-US" sz="2199">
                    <a:solidFill>
                      <a:srgbClr val="1F2937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 → Features → 3 modèles → Backtest → Dashboard Streamlit</a:t>
                </a:r>
              </a:p>
              <a:p>
                <a:pPr algn="l">
                  <a:lnSpc>
                    <a:spcPts val="3035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0" y="9418320"/>
            <a:ext cx="18288000" cy="868680"/>
            <a:chOff x="0" y="0"/>
            <a:chExt cx="24384000" cy="1158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1A23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85972" y="1968613"/>
            <a:ext cx="7292340" cy="2065047"/>
            <a:chOff x="0" y="0"/>
            <a:chExt cx="9723120" cy="27533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723120" cy="2753396"/>
              <a:chOff x="0" y="0"/>
              <a:chExt cx="9723120" cy="27533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8065" y="6171"/>
                <a:ext cx="9707074" cy="2741118"/>
              </a:xfrm>
              <a:custGeom>
                <a:avLst/>
                <a:gdLst/>
                <a:ahLst/>
                <a:cxnLst/>
                <a:rect r="r" b="b" t="t" l="l"/>
                <a:pathLst>
                  <a:path h="2741118" w="9707074">
                    <a:moveTo>
                      <a:pt x="0" y="0"/>
                    </a:moveTo>
                    <a:lnTo>
                      <a:pt x="9707075" y="0"/>
                    </a:lnTo>
                    <a:lnTo>
                      <a:pt x="9707075" y="2741118"/>
                    </a:lnTo>
                    <a:lnTo>
                      <a:pt x="0" y="274111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723210" cy="2753485"/>
              </a:xfrm>
              <a:custGeom>
                <a:avLst/>
                <a:gdLst/>
                <a:ahLst/>
                <a:cxnLst/>
                <a:rect r="r" b="b" t="t" l="l"/>
                <a:pathLst>
                  <a:path h="2753485" w="9723210">
                    <a:moveTo>
                      <a:pt x="8065" y="0"/>
                    </a:moveTo>
                    <a:lnTo>
                      <a:pt x="9715140" y="0"/>
                    </a:lnTo>
                    <a:cubicBezTo>
                      <a:pt x="9719593" y="0"/>
                      <a:pt x="9723210" y="2763"/>
                      <a:pt x="9723210" y="6171"/>
                    </a:cubicBezTo>
                    <a:lnTo>
                      <a:pt x="9723210" y="2747289"/>
                    </a:lnTo>
                    <a:cubicBezTo>
                      <a:pt x="9723210" y="2750697"/>
                      <a:pt x="9719593" y="2753485"/>
                      <a:pt x="9715140" y="2753485"/>
                    </a:cubicBezTo>
                    <a:lnTo>
                      <a:pt x="8065" y="2753485"/>
                    </a:lnTo>
                    <a:cubicBezTo>
                      <a:pt x="3611" y="2753485"/>
                      <a:pt x="0" y="2750697"/>
                      <a:pt x="0" y="2747289"/>
                    </a:cubicBezTo>
                    <a:lnTo>
                      <a:pt x="0" y="6171"/>
                    </a:lnTo>
                    <a:cubicBezTo>
                      <a:pt x="0" y="2763"/>
                      <a:pt x="3611" y="0"/>
                      <a:pt x="8065" y="0"/>
                    </a:cubicBezTo>
                    <a:moveTo>
                      <a:pt x="8065" y="12250"/>
                    </a:moveTo>
                    <a:lnTo>
                      <a:pt x="8065" y="6171"/>
                    </a:lnTo>
                    <a:lnTo>
                      <a:pt x="16130" y="6171"/>
                    </a:lnTo>
                    <a:lnTo>
                      <a:pt x="16130" y="2747289"/>
                    </a:lnTo>
                    <a:lnTo>
                      <a:pt x="8065" y="2747289"/>
                    </a:lnTo>
                    <a:lnTo>
                      <a:pt x="8065" y="2741118"/>
                    </a:lnTo>
                    <a:lnTo>
                      <a:pt x="9715140" y="2741118"/>
                    </a:lnTo>
                    <a:lnTo>
                      <a:pt x="9715140" y="2747289"/>
                    </a:lnTo>
                    <a:lnTo>
                      <a:pt x="9707074" y="2747289"/>
                    </a:lnTo>
                    <a:lnTo>
                      <a:pt x="9707074" y="6171"/>
                    </a:lnTo>
                    <a:lnTo>
                      <a:pt x="9715140" y="6171"/>
                    </a:lnTo>
                    <a:lnTo>
                      <a:pt x="9715140" y="12342"/>
                    </a:lnTo>
                    <a:lnTo>
                      <a:pt x="8065" y="12342"/>
                    </a:lnTo>
                    <a:close/>
                  </a:path>
                </a:pathLst>
              </a:custGeom>
              <a:solidFill>
                <a:srgbClr val="E5E7EB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655957" y="244997"/>
              <a:ext cx="7183396" cy="912334"/>
              <a:chOff x="0" y="0"/>
              <a:chExt cx="4223800" cy="53644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23800" cy="536448"/>
              </a:xfrm>
              <a:custGeom>
                <a:avLst/>
                <a:gdLst/>
                <a:ahLst/>
                <a:cxnLst/>
                <a:rect r="r" b="b" t="t" l="l"/>
                <a:pathLst>
                  <a:path h="536448" w="4223800">
                    <a:moveTo>
                      <a:pt x="0" y="0"/>
                    </a:moveTo>
                    <a:lnTo>
                      <a:pt x="4223800" y="0"/>
                    </a:lnTo>
                    <a:lnTo>
                      <a:pt x="4223800" y="536448"/>
                    </a:lnTo>
                    <a:lnTo>
                      <a:pt x="0" y="536448"/>
                    </a:lnTo>
                    <a:close/>
                  </a:path>
                </a:pathLst>
              </a:custGeom>
              <a:solidFill>
                <a:srgbClr val="D9770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4223800" cy="5364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  <a:sym typeface="Georgia"/>
                  </a:rPr>
                  <a:t>2 - LSTM = meilleur modèle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9645992" y="3001137"/>
            <a:ext cx="7132320" cy="439166"/>
            <a:chOff x="0" y="0"/>
            <a:chExt cx="9509760" cy="5855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585555"/>
            </a:xfrm>
            <a:custGeom>
              <a:avLst/>
              <a:gdLst/>
              <a:ahLst/>
              <a:cxnLst/>
              <a:rect r="r" b="b" t="t" l="l"/>
              <a:pathLst>
                <a:path h="58555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555"/>
                  </a:lnTo>
                  <a:lnTo>
                    <a:pt x="0" y="585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52" r="0" b="-3101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9509760" cy="671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54.09% - mémoire temporelle apporte +3.38pts vs baseline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600" y="4764278"/>
            <a:ext cx="7292340" cy="2065047"/>
            <a:chOff x="0" y="0"/>
            <a:chExt cx="9723120" cy="27533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065" y="6171"/>
              <a:ext cx="9707074" cy="2741118"/>
            </a:xfrm>
            <a:custGeom>
              <a:avLst/>
              <a:gdLst/>
              <a:ahLst/>
              <a:cxnLst/>
              <a:rect r="r" b="b" t="t" l="l"/>
              <a:pathLst>
                <a:path h="2741118" w="9707074">
                  <a:moveTo>
                    <a:pt x="0" y="0"/>
                  </a:moveTo>
                  <a:lnTo>
                    <a:pt x="9707075" y="0"/>
                  </a:lnTo>
                  <a:lnTo>
                    <a:pt x="9707075" y="2741118"/>
                  </a:lnTo>
                  <a:lnTo>
                    <a:pt x="0" y="27411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23210" cy="2753485"/>
            </a:xfrm>
            <a:custGeom>
              <a:avLst/>
              <a:gdLst/>
              <a:ahLst/>
              <a:cxnLst/>
              <a:rect r="r" b="b" t="t" l="l"/>
              <a:pathLst>
                <a:path h="2753485" w="9723210">
                  <a:moveTo>
                    <a:pt x="8065" y="0"/>
                  </a:moveTo>
                  <a:lnTo>
                    <a:pt x="9715140" y="0"/>
                  </a:lnTo>
                  <a:cubicBezTo>
                    <a:pt x="9719593" y="0"/>
                    <a:pt x="9723210" y="2763"/>
                    <a:pt x="9723210" y="6171"/>
                  </a:cubicBezTo>
                  <a:lnTo>
                    <a:pt x="9723210" y="2747289"/>
                  </a:lnTo>
                  <a:cubicBezTo>
                    <a:pt x="9723210" y="2750697"/>
                    <a:pt x="9719593" y="2753485"/>
                    <a:pt x="9715140" y="2753485"/>
                  </a:cubicBezTo>
                  <a:lnTo>
                    <a:pt x="8065" y="2753485"/>
                  </a:lnTo>
                  <a:cubicBezTo>
                    <a:pt x="3611" y="2753485"/>
                    <a:pt x="0" y="2750697"/>
                    <a:pt x="0" y="2747289"/>
                  </a:cubicBezTo>
                  <a:lnTo>
                    <a:pt x="0" y="6171"/>
                  </a:lnTo>
                  <a:cubicBezTo>
                    <a:pt x="0" y="2763"/>
                    <a:pt x="3611" y="0"/>
                    <a:pt x="8065" y="0"/>
                  </a:cubicBezTo>
                  <a:moveTo>
                    <a:pt x="8065" y="12250"/>
                  </a:moveTo>
                  <a:lnTo>
                    <a:pt x="8065" y="6171"/>
                  </a:lnTo>
                  <a:lnTo>
                    <a:pt x="16130" y="6171"/>
                  </a:lnTo>
                  <a:lnTo>
                    <a:pt x="16130" y="2747289"/>
                  </a:lnTo>
                  <a:lnTo>
                    <a:pt x="8065" y="2747289"/>
                  </a:lnTo>
                  <a:lnTo>
                    <a:pt x="8065" y="2741118"/>
                  </a:lnTo>
                  <a:lnTo>
                    <a:pt x="9715140" y="2741118"/>
                  </a:lnTo>
                  <a:lnTo>
                    <a:pt x="9715140" y="2747289"/>
                  </a:lnTo>
                  <a:lnTo>
                    <a:pt x="9707074" y="2747289"/>
                  </a:lnTo>
                  <a:lnTo>
                    <a:pt x="9707074" y="6171"/>
                  </a:lnTo>
                  <a:lnTo>
                    <a:pt x="9715140" y="6171"/>
                  </a:lnTo>
                  <a:lnTo>
                    <a:pt x="9715140" y="12342"/>
                  </a:lnTo>
                  <a:lnTo>
                    <a:pt x="8065" y="12342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28800" y="4996834"/>
            <a:ext cx="4663958" cy="684251"/>
            <a:chOff x="0" y="0"/>
            <a:chExt cx="3656511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6512" cy="536448"/>
            </a:xfrm>
            <a:custGeom>
              <a:avLst/>
              <a:gdLst/>
              <a:ahLst/>
              <a:cxnLst/>
              <a:rect r="r" b="b" t="t" l="l"/>
              <a:pathLst>
                <a:path h="536448" w="3656512">
                  <a:moveTo>
                    <a:pt x="0" y="0"/>
                  </a:moveTo>
                  <a:lnTo>
                    <a:pt x="3656512" y="0"/>
                  </a:lnTo>
                  <a:lnTo>
                    <a:pt x="3656512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656511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3- Stratégie profitable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40710" y="5796802"/>
            <a:ext cx="7132320" cy="1201166"/>
            <a:chOff x="0" y="0"/>
            <a:chExt cx="9509760" cy="16015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0" cy="1601555"/>
            </a:xfrm>
            <a:custGeom>
              <a:avLst/>
              <a:gdLst/>
              <a:ahLst/>
              <a:cxnLst/>
              <a:rect r="r" b="b" t="t" l="l"/>
              <a:pathLst>
                <a:path h="160155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601555"/>
                  </a:lnTo>
                  <a:lnTo>
                    <a:pt x="0" y="1601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442" r="0" b="-499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9509760" cy="168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+7.34% sur la période de test avec coûts de transaction réels</a:t>
              </a:r>
            </a:p>
            <a:p>
              <a:pPr algn="l">
                <a:lnSpc>
                  <a:spcPts val="3035"/>
                </a:lnSpc>
              </a:pPr>
            </a:p>
            <a:p>
              <a:pPr algn="l">
                <a:lnSpc>
                  <a:spcPts val="3035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85972" y="4764278"/>
            <a:ext cx="7292340" cy="2065047"/>
            <a:chOff x="0" y="0"/>
            <a:chExt cx="9723120" cy="27533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065" y="6171"/>
              <a:ext cx="9707074" cy="2741118"/>
            </a:xfrm>
            <a:custGeom>
              <a:avLst/>
              <a:gdLst/>
              <a:ahLst/>
              <a:cxnLst/>
              <a:rect r="r" b="b" t="t" l="l"/>
              <a:pathLst>
                <a:path h="2741118" w="9707074">
                  <a:moveTo>
                    <a:pt x="0" y="0"/>
                  </a:moveTo>
                  <a:lnTo>
                    <a:pt x="9707075" y="0"/>
                  </a:lnTo>
                  <a:lnTo>
                    <a:pt x="9707075" y="2741118"/>
                  </a:lnTo>
                  <a:lnTo>
                    <a:pt x="0" y="27411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23210" cy="2753485"/>
            </a:xfrm>
            <a:custGeom>
              <a:avLst/>
              <a:gdLst/>
              <a:ahLst/>
              <a:cxnLst/>
              <a:rect r="r" b="b" t="t" l="l"/>
              <a:pathLst>
                <a:path h="2753485" w="9723210">
                  <a:moveTo>
                    <a:pt x="8065" y="0"/>
                  </a:moveTo>
                  <a:lnTo>
                    <a:pt x="9715140" y="0"/>
                  </a:lnTo>
                  <a:cubicBezTo>
                    <a:pt x="9719593" y="0"/>
                    <a:pt x="9723210" y="2763"/>
                    <a:pt x="9723210" y="6171"/>
                  </a:cubicBezTo>
                  <a:lnTo>
                    <a:pt x="9723210" y="2747289"/>
                  </a:lnTo>
                  <a:cubicBezTo>
                    <a:pt x="9723210" y="2750697"/>
                    <a:pt x="9719593" y="2753485"/>
                    <a:pt x="9715140" y="2753485"/>
                  </a:cubicBezTo>
                  <a:lnTo>
                    <a:pt x="8065" y="2753485"/>
                  </a:lnTo>
                  <a:cubicBezTo>
                    <a:pt x="3611" y="2753485"/>
                    <a:pt x="0" y="2750697"/>
                    <a:pt x="0" y="2747289"/>
                  </a:cubicBezTo>
                  <a:lnTo>
                    <a:pt x="0" y="6171"/>
                  </a:lnTo>
                  <a:cubicBezTo>
                    <a:pt x="0" y="2763"/>
                    <a:pt x="3611" y="0"/>
                    <a:pt x="8065" y="0"/>
                  </a:cubicBezTo>
                  <a:moveTo>
                    <a:pt x="8065" y="12250"/>
                  </a:moveTo>
                  <a:lnTo>
                    <a:pt x="8065" y="6171"/>
                  </a:lnTo>
                  <a:lnTo>
                    <a:pt x="16130" y="6171"/>
                  </a:lnTo>
                  <a:lnTo>
                    <a:pt x="16130" y="2747289"/>
                  </a:lnTo>
                  <a:lnTo>
                    <a:pt x="8065" y="2747289"/>
                  </a:lnTo>
                  <a:lnTo>
                    <a:pt x="8065" y="2741118"/>
                  </a:lnTo>
                  <a:lnTo>
                    <a:pt x="9715140" y="2741118"/>
                  </a:lnTo>
                  <a:lnTo>
                    <a:pt x="9715140" y="2747289"/>
                  </a:lnTo>
                  <a:lnTo>
                    <a:pt x="9707074" y="2747289"/>
                  </a:lnTo>
                  <a:lnTo>
                    <a:pt x="9707074" y="6171"/>
                  </a:lnTo>
                  <a:lnTo>
                    <a:pt x="9715140" y="6171"/>
                  </a:lnTo>
                  <a:lnTo>
                    <a:pt x="9715140" y="12342"/>
                  </a:lnTo>
                  <a:lnTo>
                    <a:pt x="8065" y="12342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985141" y="4996834"/>
            <a:ext cx="5069607" cy="684251"/>
            <a:chOff x="0" y="0"/>
            <a:chExt cx="3974537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74537" cy="536448"/>
            </a:xfrm>
            <a:custGeom>
              <a:avLst/>
              <a:gdLst/>
              <a:ahLst/>
              <a:cxnLst/>
              <a:rect r="r" b="b" t="t" l="l"/>
              <a:pathLst>
                <a:path h="536448" w="3974537">
                  <a:moveTo>
                    <a:pt x="0" y="0"/>
                  </a:moveTo>
                  <a:lnTo>
                    <a:pt x="3974537" y="0"/>
                  </a:lnTo>
                  <a:lnTo>
                    <a:pt x="3974537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974537" cy="53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4- IA Générative intégrée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55082" y="5796802"/>
            <a:ext cx="7132320" cy="820166"/>
            <a:chOff x="0" y="0"/>
            <a:chExt cx="9509760" cy="109355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1093555"/>
            </a:xfrm>
            <a:custGeom>
              <a:avLst/>
              <a:gdLst/>
              <a:ahLst/>
              <a:cxnLst/>
              <a:rect r="r" b="b" t="t" l="l"/>
              <a:pathLst>
                <a:path h="109355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3555"/>
                  </a:lnTo>
                  <a:lnTo>
                    <a:pt x="0" y="10935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75" r="0" b="-1196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9509760" cy="117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</a:t>
              </a:r>
              <a:r>
                <a:rPr lang="en-US" sz="2199">
                  <a:solidFill>
                    <a:srgbClr val="1F29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Claude pour interprétation automatique des résultats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9728"/>
            <a:chOff x="0" y="0"/>
            <a:chExt cx="24384000" cy="1463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0160" y="2560320"/>
            <a:ext cx="15727680" cy="1285925"/>
            <a:chOff x="0" y="0"/>
            <a:chExt cx="20970240" cy="17145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70239" cy="1714566"/>
            </a:xfrm>
            <a:custGeom>
              <a:avLst/>
              <a:gdLst/>
              <a:ahLst/>
              <a:cxnLst/>
              <a:rect r="r" b="b" t="t" l="l"/>
              <a:pathLst>
                <a:path h="1714566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714566"/>
                  </a:lnTo>
                  <a:lnTo>
                    <a:pt x="0" y="17145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538" r="0" b="-18809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0970240" cy="1724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Questions 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4757" y="4089397"/>
            <a:ext cx="2793997" cy="50797"/>
            <a:chOff x="0" y="0"/>
            <a:chExt cx="3725329" cy="677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909" y="0"/>
              <a:ext cx="3657600" cy="67691"/>
            </a:xfrm>
            <a:custGeom>
              <a:avLst/>
              <a:gdLst/>
              <a:ahLst/>
              <a:cxnLst/>
              <a:rect r="r" b="b" t="t" l="l"/>
              <a:pathLst>
                <a:path h="67691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4389120"/>
            <a:ext cx="15727680" cy="2878213"/>
            <a:chOff x="0" y="0"/>
            <a:chExt cx="20970240" cy="38376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70239" cy="3837618"/>
            </a:xfrm>
            <a:custGeom>
              <a:avLst/>
              <a:gdLst/>
              <a:ahLst/>
              <a:cxnLst/>
              <a:rect r="r" b="b" t="t" l="l"/>
              <a:pathLst>
                <a:path h="3837618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3837618"/>
                  </a:lnTo>
                  <a:lnTo>
                    <a:pt x="0" y="3837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03" r="0" b="-795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20970240" cy="3990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Merci. </a:t>
              </a:r>
            </a:p>
            <a:p>
              <a:pPr algn="l">
                <a:lnSpc>
                  <a:spcPts val="4800"/>
                </a:lnSpc>
              </a:pPr>
            </a:p>
            <a:p>
              <a:pPr algn="l">
                <a:lnSpc>
                  <a:spcPts val="480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Yannis Khalfi &amp; Branko Markovic</a:t>
              </a:r>
            </a:p>
            <a:p>
              <a:pPr algn="l">
                <a:lnSpc>
                  <a:spcPts val="4800"/>
                </a:lnSpc>
              </a:pPr>
            </a:p>
            <a:p>
              <a:pPr algn="l">
                <a:lnSpc>
                  <a:spcPts val="3299"/>
                </a:lnSpc>
              </a:pPr>
              <a:r>
                <a:rPr lang="en-US" sz="21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https://github.com/yanniskh/projet-intraday-lstm/tree/main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DAHMb_DIwok</dc:identifier>
  <dcterms:modified xsi:type="dcterms:W3CDTF">2011-08-01T06:04:30Z</dcterms:modified>
  <cp:revision>1</cp:revision>
  <dc:title>PPT Machine learning</dc:title>
</cp:coreProperties>
</file>